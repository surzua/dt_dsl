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Estimado comité de evaluación: Les presento mi resolución integral al Desafío Técnico para el rol de Data Scientist Lead. A lo largo de esta presentación abordaremos con total exhaustividad cada una de las 5 tareas planteadas en el documento oficial: auditaremos el comportamiento del baseline actual y la indisciplina en el plan comercial, formularemos un modelo corrector residual con cero data leakage, diseñaremos la regla de resiliencia operativa ante cold start y desplegaremos la arquitectura cloud en AWS para operar en tiempo real y batch. Mi objetivo es demostrar no sólo rigor matemático y analítico, sino criterio de supply chain y arquitectura para llevar soluciones robustas a producción.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Respondiendo con precisión a la primera pregunta de la Tarea 1: el pronóstico base no tiene un error aleatorio; exhibe una fractura geográfica estructural. Tres centros subestiman sistemáticamente y tres sobreestiman crónicamente. Lo crítico para el negocio es que la subestimación se concentra en los centros de mayor escala: CD_NORTE, CD_SUR y CD_ESTE representan el 70% de la carga de la empresa. En particular, CD_SUR es una emergencia operativa: el modelo se quedó corto el 100% de los días evaluados con un sesgo del +31.56%. Esto significa que cada día en CD_SUR la operación arranca con déficit de camiones.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responder la segunda pregunta de la Tarea 1, constatamos que el WAPE sube monótonamente desde 19.77% en D+1 hasta 22.53% en D+4. Esto representa una pérdida relativa del 14% en precisión. La causa es operativa: a 4 días no existe suficiente trazabilidad de preventa para anticipar cambios de compra. Pero como Data Scientist Lead, introduzco una métrica indispensable: la Pérdida Asimétrica. En supply chain, quedarse corto no cuesta lo mismo que pasarse. Subestimar obliga a llamar transportistas spot a tarifas de pánico. Ponderando este sobrecosto de 2.5x, el verdadero dolor del baseline no era 20.8%, sino un 41.4% de ineficiencia económica.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Pasando a la Tarea 2: auditamos los 90 clientes y 739 compras reales. Respondo a la primera pregunta: sí, existe un sesgo significativo en el plan de entrega. En unidades, el plan subestima la demanda real en un +10.62%, lo que significa que comercial compromete menos producto del que el cliente termina pidiendo. En fechas, el sesgo es positivo en +0.44 días, indicando una tendencia neta a postergar pedidos. A la segunda pregunta: el 17.46% de las compras se realizan fuera de plan. Lo grave es dónde se concentra: CD_NORTE lidera la indisciplina con un 24.4% de compras fuera de fecha, y los miércoles y lunes son los días de mayor fuga de clientes.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la pregunta 3, diseñé tres métricas que completan el mapa operativo: el Late-to-Early Ratio es de 3.45 a 1, probando que el cliente posterga sistemáticamente; el PAR es de 2.10x los martes; y la saturación de CD_NORTE supera el 100% en 1 de cada 10 días, acumulando 974 unidades de desborde. Para la pregunta 4, no recomiendo contratar más camiones que quedarían vacíos jueves y viernes. Propongo Dynamic Delivery Slotting: un semáforo de capacidad dinámico en el portal de preventa que premia con un 2.5% de descuento a quienes trasladen sus despachos a días valle. Con mover sólo un 15% del volumen de los martes, eliminamos el 100% de la sobrecarga y abatimos el PAR a menos de 1.35x.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Tarea 3 debíamos desarrollar el modelo complementario. Opté por una arquitectura correctora residual: predecir el error aditivo del baseline con regularización Ridge L2 y truncamiento no negativo. Cumplimos con creces la ingeniería de features solicitada: variables de día, interacciones territoriales para capturar el pico de los martes y rolling features de 7, 14 y 21 días, todas con blindaje absoluto de zero data leakage. ¿Por qué Ridge y no LightGBM? Porque en ventanas rodantes de 1,000 registros, los árboles tienden a sobreajustar y producen funciones en escalera que desestabilizan el picking logístico. Ridge entrega una solución analítica cerrada en menos de un milisegundo, coeficientes auditables y la máxima estabilidad operativa.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lámina expone la validación más exigente: un rolling backtest de 31 días secuenciales donde cada mañana el modelo se reentrena sólo con datos cerrados y proyecta los 4 horizontes. Los resultados son contundentes: el WAPE global colapsa de 20.73% a 7.28%, una reducción relativa del 65%. El sesgo de la red pasa de +6.69% a un virtual cero (+0.69%). En CD_SUR, que era el mayor dolor logístico, el error se desploma del 31% al 6.48%. En CD_NORTE la mejora es prudente para no sobreajustar. Y en D+4 logramos 9.90%, manteniendo rigor y honestidad analítica respecto a la incertidumbre intrínseca a 4 días.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Tarea 4 resolvimos un riesgo común en ingeniería de datos: el arranque en frío o interrupciones en la historia de un centro. Diseñamos el DataCoverageGate: una regla determinística que inspecciona la racha continua de días del CD. Si tiene 45 días o más, entrena e infiere el modelo corrector; si tiene menos, conmuta suavemente al pronóstico base con logs de advertencia, garantizando cero fallas en producción. ¿Por qué 45 días? Porque 45 días equivalen a 6 semanas y media, permitiendo ver al menos 6 martes para calibrar el pico y saturar las medias móviles de 21 días. Reducir el umbral a 15 días dispara el error a más del 12% por sobreajuste; aumentarlo a 60 días demora innecesariamente la captura de valor.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la Tarea 5 diseñé una arquitectura en AWS para producción. Cumple estrictamente los 3 pilares exigidos: en Batch, usamos AWS Step Functions y EventBridge para orquestar la validación con contratos Pydantic y reentrenar en SageMaker con instancias Spot, ahorrando 70% de cómputo. En Inferencia, desplegamos microservicios FastAPI sobre ECS Fargate con Redis ElastiCache para entregar recomendaciones de despacho en menos de 50 milisegundos con alta concurrencia. En Persistencia, desacoplamos un lago de datos en S3 con Parquet y compresión Snappy para analítica, junto con Amazon Aurora Serverless para transacciones ACID. Añadí además observabilidad con SageMaker Model Monitor para alertar desviaciones de sesgo. Todo esto con un costo FinOps de apenas $185 USD al mes.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concluir, un Data Scientist Lead debe cerrar el puente entre el algoritmo y el P&amp;L de la compañía. En esta lámina final sintetizo el impacto en negocio: no sólo eliminamos 974 unidades de congestión en CD_NORTE y reducimos un 15% la flota pico de los martes, sino que mitigamos de raíz la contratación de fletes spot. Como el dataset no trae costos monetarios explícitos, construí un modelo paramétrico bajo supuestos estándar de industria: evitar estos desbordes representa entre $180,000 y $350,000 USD anuales de ahorro, con una infraestructura cloud que se paga sola evitando un solo camión de emergencia al mes. Presento además un plan de despliegue a 12 semanas que inicia con un piloto controlado en modo sombra, integra el slotting comercial y culmina con MLOps continuo. Con esto doy respuesta rigurosa y exhaustiva a todas las exigencias del desafío. Muchas gracias.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solidFill>
              <a:srgbClr val="0A11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85800"/>
            <a:ext cx="2286000" cy="54864"/>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60120"/>
            <a:ext cx="10698480" cy="2194560"/>
          </a:xfrm>
          <a:prstGeom prst="rect">
            <a:avLst/>
          </a:prstGeom>
          <a:noFill/>
        </p:spPr>
        <p:txBody>
          <a:bodyPr wrap="square">
            <a:spAutoFit/>
          </a:bodyPr>
          <a:lstStyle/>
          <a:p>
            <a:pPr>
              <a:defRPr sz="1100" b="1">
                <a:solidFill>
                  <a:srgbClr val="38BDF8"/>
                </a:solidFill>
              </a:defRPr>
            </a:pPr>
            <a:r>
              <a:t>PROCESO DE SELECCIÓN DATA SCIENTIST LEAD  |  EVALUACIÓN TÉCNICA</a:t>
            </a:r>
          </a:p>
          <a:p>
            <a:pPr>
              <a:defRPr sz="3600" b="1">
                <a:solidFill>
                  <a:srgbClr val="FFFFFF"/>
                </a:solidFill>
              </a:defRPr>
            </a:pPr>
            <a:r>
              <a:t>Desafío Técnico: Data Scientist Lead</a:t>
            </a:r>
          </a:p>
          <a:p>
            <a:pPr>
              <a:defRPr sz="1600">
                <a:solidFill>
                  <a:srgbClr val="94A3B8"/>
                </a:solidFill>
              </a:defRPr>
            </a:pPr>
            <a:r>
              <a:t>Auditoría de Demanda, Corrección Analítica de Pronóstico, Resiliencia Operativa y Arquitectura Cloud en AWS</a:t>
            </a:r>
          </a:p>
        </p:txBody>
      </p:sp>
      <p:sp>
        <p:nvSpPr>
          <p:cNvPr id="5" name="Rounded Rectangle 4"/>
          <p:cNvSpPr/>
          <p:nvPr/>
        </p:nvSpPr>
        <p:spPr>
          <a:xfrm>
            <a:off x="731520" y="3383280"/>
            <a:ext cx="5943600" cy="21031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ctr">
              <a:defRPr sz="1900" b="1">
                <a:solidFill>
                  <a:srgbClr val="FFFFFF"/>
                </a:solidFill>
              </a:defRPr>
            </a:pPr>
            <a:r>
              <a:t>Sebastián Felipe Urzúa Bórquez</a:t>
            </a:r>
          </a:p>
          <a:p>
            <a:pPr>
              <a:defRPr sz="1000">
                <a:solidFill>
                  <a:srgbClr val="CBD5E1"/>
                </a:solidFill>
              </a:defRPr>
            </a:pPr>
            <a:r>
              <a:t>• Cargo al que postula: Data Scientist Lead</a:t>
            </a:r>
            <a:br/>
            <a:r>
              <a:t>• Entregable: Executive Deck &amp; Technical Defense (10 Diapositivas)</a:t>
            </a:r>
            <a:br/>
            <a:r>
              <a:t>• Red Evaluada: Red Logística B2B | 6 Centros de Distribución Regionales | 60 Días Operativos</a:t>
            </a:r>
            <a:br/>
            <a:r>
              <a:t>• Fecha: Octubre 2026</a:t>
            </a:r>
          </a:p>
        </p:txBody>
      </p:sp>
      <p:sp>
        <p:nvSpPr>
          <p:cNvPr id="6" name="Rounded Rectangle 5"/>
          <p:cNvSpPr/>
          <p:nvPr/>
        </p:nvSpPr>
        <p:spPr>
          <a:xfrm>
            <a:off x="6949440" y="3383280"/>
            <a:ext cx="2240280" cy="9601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850" b="1">
                <a:solidFill>
                  <a:srgbClr val="94A3B8"/>
                </a:solidFill>
              </a:defRPr>
            </a:pPr>
            <a:r>
              <a:t>PRECISIÓN GLOBAL</a:t>
            </a:r>
          </a:p>
          <a:p>
            <a:pPr algn="ctr">
              <a:defRPr sz="1650" b="1">
                <a:solidFill>
                  <a:srgbClr val="10B981"/>
                </a:solidFill>
              </a:defRPr>
            </a:pPr>
            <a:r>
              <a:t>20.7% → 7.3%</a:t>
            </a:r>
          </a:p>
          <a:p>
            <a:pPr algn="ctr">
              <a:defRPr sz="750">
                <a:solidFill>
                  <a:srgbClr val="CBD5E1"/>
                </a:solidFill>
              </a:defRPr>
            </a:pPr>
            <a:r>
              <a:t>WAPE (-65% error rel. en backtest)</a:t>
            </a:r>
          </a:p>
        </p:txBody>
      </p:sp>
      <p:sp>
        <p:nvSpPr>
          <p:cNvPr id="7" name="Rounded Rectangle 6"/>
          <p:cNvSpPr/>
          <p:nvPr/>
        </p:nvSpPr>
        <p:spPr>
          <a:xfrm>
            <a:off x="9418320" y="3383280"/>
            <a:ext cx="2240280" cy="9601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850" b="1">
                <a:solidFill>
                  <a:srgbClr val="94A3B8"/>
                </a:solidFill>
              </a:defRPr>
            </a:pPr>
            <a:r>
              <a:t>SESGO ESTRUCTURAL</a:t>
            </a:r>
          </a:p>
          <a:p>
            <a:pPr algn="ctr">
              <a:defRPr sz="1650" b="1">
                <a:solidFill>
                  <a:srgbClr val="38BDF8"/>
                </a:solidFill>
              </a:defRPr>
            </a:pPr>
            <a:r>
              <a:t>+6.7% → +0.7%</a:t>
            </a:r>
          </a:p>
          <a:p>
            <a:pPr algn="ctr">
              <a:defRPr sz="750">
                <a:solidFill>
                  <a:srgbClr val="CBD5E1"/>
                </a:solidFill>
              </a:defRPr>
            </a:pPr>
            <a:r>
              <a:t>Neutralizado en toda la red</a:t>
            </a:r>
          </a:p>
        </p:txBody>
      </p:sp>
      <p:sp>
        <p:nvSpPr>
          <p:cNvPr id="8" name="Rounded Rectangle 7"/>
          <p:cNvSpPr/>
          <p:nvPr/>
        </p:nvSpPr>
        <p:spPr>
          <a:xfrm>
            <a:off x="6949440" y="4480560"/>
            <a:ext cx="2240280" cy="9601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850" b="1">
                <a:solidFill>
                  <a:srgbClr val="94A3B8"/>
                </a:solidFill>
              </a:defRPr>
            </a:pPr>
            <a:r>
              <a:t>PÉRDIDA ASIMÉTRICA</a:t>
            </a:r>
          </a:p>
          <a:p>
            <a:pPr algn="ctr">
              <a:defRPr sz="1650" b="1">
                <a:solidFill>
                  <a:srgbClr val="10B981"/>
                </a:solidFill>
              </a:defRPr>
            </a:pPr>
            <a:r>
              <a:t>41.3% → 13.3%</a:t>
            </a:r>
          </a:p>
          <a:p>
            <a:pPr algn="ctr">
              <a:defRPr sz="750">
                <a:solidFill>
                  <a:srgbClr val="CBD5E1"/>
                </a:solidFill>
              </a:defRPr>
            </a:pPr>
            <a:r>
              <a:t>-28 pp costo fletes spot (2.5x)</a:t>
            </a:r>
          </a:p>
        </p:txBody>
      </p:sp>
      <p:sp>
        <p:nvSpPr>
          <p:cNvPr id="9" name="Rounded Rectangle 8"/>
          <p:cNvSpPr/>
          <p:nvPr/>
        </p:nvSpPr>
        <p:spPr>
          <a:xfrm>
            <a:off x="9418320" y="4480560"/>
            <a:ext cx="2240280" cy="9601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850" b="1">
                <a:solidFill>
                  <a:srgbClr val="94A3B8"/>
                </a:solidFill>
              </a:defRPr>
            </a:pPr>
            <a:r>
              <a:t>RETORNO FINOPS AWS</a:t>
            </a:r>
          </a:p>
          <a:p>
            <a:pPr algn="ctr">
              <a:defRPr sz="1650" b="1">
                <a:solidFill>
                  <a:srgbClr val="38BDF8"/>
                </a:solidFill>
              </a:defRPr>
            </a:pPr>
            <a:r>
              <a:t>$185 USD/mes</a:t>
            </a:r>
          </a:p>
          <a:p>
            <a:pPr algn="ctr">
              <a:defRPr sz="750">
                <a:solidFill>
                  <a:srgbClr val="CBD5E1"/>
                </a:solidFill>
              </a:defRPr>
            </a:pPr>
            <a:r>
              <a:t>ROI &gt; 2,000% (Payback &lt; 1 flete spot)</a:t>
            </a:r>
          </a:p>
        </p:txBody>
      </p:sp>
      <p:sp>
        <p:nvSpPr>
          <p:cNvPr id="10" name="TextBox 9"/>
          <p:cNvSpPr txBox="1"/>
          <p:nvPr/>
        </p:nvSpPr>
        <p:spPr>
          <a:xfrm>
            <a:off x="731520" y="5532120"/>
            <a:ext cx="10698480" cy="365760"/>
          </a:xfrm>
          <a:prstGeom prst="rect">
            <a:avLst/>
          </a:prstGeom>
          <a:noFill/>
        </p:spPr>
        <p:txBody>
          <a:bodyPr wrap="none">
            <a:spAutoFit/>
          </a:bodyPr>
          <a:lstStyle/>
          <a:p>
            <a:pPr>
              <a:defRPr sz="1000" b="1">
                <a:solidFill>
                  <a:srgbClr val="38BDF8"/>
                </a:solidFill>
              </a:defRPr>
            </a:pPr>
            <a:r>
              <a:t>[ WAPE: 20.7% → 7.3% ]     [ Sesgo: +6.7% → +0.7% ]     [ Resiliencia: Gate 45 Días ]     [ Cloud: AWS Serverless ]</a:t>
            </a:r>
          </a:p>
        </p:txBody>
      </p:sp>
      <p:sp>
        <p:nvSpPr>
          <p:cNvPr id="11" name="Rounded Rectangle 10"/>
          <p:cNvSpPr/>
          <p:nvPr/>
        </p:nvSpPr>
        <p:spPr>
          <a:xfrm>
            <a:off x="731520" y="5943600"/>
            <a:ext cx="10698480" cy="5943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850" b="0">
                <a:solidFill>
                  <a:srgbClr val="38BDF8"/>
                </a:solidFill>
              </a:defRPr>
            </a:pPr>
            <a:r>
              <a:t>SÍNTESIS DE LA DEFENSA TÉCNICA: Auditoría de 1,380 puntos con diagnóstico de sesgo territorial; mecanismo de nivelación con Dynamic Delivery Slotting; corrector residual Ridge L2 con validación out-of-time secuencial en 31 días rodantes; DataCoverageGate de 45 días contra fallas de arranque en frío; y arquitectura cloud en AWS Serverless con latencia &lt;50ms y costo mensual de $185 USD (ROI superior a 2,000%).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4747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457200" tIns="54864"/>
          <a:lstStyle/>
          <a:p>
            <a:pPr algn="ctr">
              <a:defRPr sz="850" b="1">
                <a:solidFill>
                  <a:srgbClr val="38BDF8"/>
                </a:solidFill>
              </a:defRPr>
            </a:pPr>
            <a:r>
              <a:t>ESTRATEGIA ANALÍTICA &amp; OPTIMIZACIÓN DE SUPPLY CHAIN B2B  |  DESAFÍO TÉCNICO: DATA SCIENTIST LEAD</a:t>
            </a:r>
          </a:p>
        </p:txBody>
      </p:sp>
      <p:sp>
        <p:nvSpPr>
          <p:cNvPr id="3" name="Rectangle 2"/>
          <p:cNvSpPr/>
          <p:nvPr/>
        </p:nvSpPr>
        <p:spPr>
          <a:xfrm>
            <a:off x="0" y="6510528"/>
            <a:ext cx="12191695" cy="347472"/>
          </a:xfrm>
          <a:prstGeom prst="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457200" tIns="54864"/>
          <a:lstStyle/>
          <a:p>
            <a:pPr algn="ctr">
              <a:defRPr sz="850">
                <a:solidFill>
                  <a:srgbClr val="64748B"/>
                </a:solidFill>
              </a:defRPr>
            </a:pPr>
            <a:r>
              <a:t>Sebastián Felipe Urzúa Bórquez | Postulación Data Scientist Lead | Presentación Técnica Oficial          Diapositiva 2 de 10</a:t>
            </a:r>
          </a:p>
        </p:txBody>
      </p:sp>
      <p:sp>
        <p:nvSpPr>
          <p:cNvPr id="4" name="TextBox 3"/>
          <p:cNvSpPr txBox="1"/>
          <p:nvPr/>
        </p:nvSpPr>
        <p:spPr>
          <a:xfrm>
            <a:off x="457200" y="402336"/>
            <a:ext cx="11277295" cy="868680"/>
          </a:xfrm>
          <a:prstGeom prst="rect">
            <a:avLst/>
          </a:prstGeom>
          <a:noFill/>
        </p:spPr>
        <p:txBody>
          <a:bodyPr wrap="square" lIns="0" tIns="0" rIns="0" bIns="0">
            <a:spAutoFit/>
          </a:bodyPr>
          <a:lstStyle/>
          <a:p>
            <a:pPr>
              <a:defRPr sz="900" b="1">
                <a:solidFill>
                  <a:srgbClr val="2563EB"/>
                </a:solidFill>
              </a:defRPr>
            </a:pPr>
            <a:r>
              <a:t>TAREA 1: EVALUACIÓN CUANTITATIVA DE WAPE Y BIAS POR CENTRO DE DISTRIBUCIÓN (1,380 PUNTOS AUDITADOS)</a:t>
            </a:r>
          </a:p>
          <a:p>
            <a:pPr>
              <a:defRPr sz="1550" b="1">
                <a:solidFill>
                  <a:srgbClr val="0F172A"/>
                </a:solidFill>
              </a:defRPr>
            </a:pPr>
            <a:r>
              <a:t>La auditoría del pronóstico base revela una red bipolar: el 70% del volumen sufre subestimación severa (CD_SUR +31.6%), forzando fletes de urgencia.</a:t>
            </a:r>
          </a:p>
        </p:txBody>
      </p:sp>
      <p:graphicFrame>
        <p:nvGraphicFramePr>
          <p:cNvPr id="5" name="Table 4"/>
          <p:cNvGraphicFramePr>
            <a:graphicFrameLocks noGrp="1"/>
          </p:cNvGraphicFramePr>
          <p:nvPr/>
        </p:nvGraphicFramePr>
        <p:xfrm>
          <a:off x="457200" y="1371600"/>
          <a:ext cx="6217920" cy="2926080"/>
        </p:xfrm>
        <a:graphic>
          <a:graphicData uri="http://schemas.openxmlformats.org/drawingml/2006/table">
            <a:tbl>
              <a:tblPr firstRow="1" bandRow="1">
                <a:tableStyleId>{5C22544A-7EE6-4342-B048-85BDC9FD1C3A}</a:tableStyleId>
              </a:tblPr>
              <a:tblGrid>
                <a:gridCol w="1097280"/>
                <a:gridCol w="822960"/>
                <a:gridCol w="640080"/>
                <a:gridCol w="822960"/>
                <a:gridCol w="822960"/>
                <a:gridCol w="2011680"/>
              </a:tblGrid>
              <a:tr h="418011">
                <a:tc>
                  <a:txBody>
                    <a:bodyPr/>
                    <a:lstStyle/>
                    <a:p>
                      <a:pPr>
                        <a:defRPr sz="850" b="1">
                          <a:solidFill>
                            <a:srgbClr val="FFFFFF"/>
                          </a:solidFill>
                        </a:defRPr>
                      </a:pPr>
                      <a:r>
                        <a:t>Centro</a:t>
                      </a:r>
                    </a:p>
                  </a:txBody>
                  <a:tcPr>
                    <a:solidFill>
                      <a:srgbClr val="0F172A"/>
                    </a:solidFill>
                  </a:tcPr>
                </a:tc>
                <a:tc>
                  <a:txBody>
                    <a:bodyPr/>
                    <a:lstStyle/>
                    <a:p>
                      <a:pPr>
                        <a:defRPr sz="850" b="1">
                          <a:solidFill>
                            <a:srgbClr val="FFFFFF"/>
                          </a:solidFill>
                        </a:defRPr>
                      </a:pPr>
                      <a:r>
                        <a:t>Vol. Real</a:t>
                      </a:r>
                    </a:p>
                  </a:txBody>
                  <a:tcPr>
                    <a:solidFill>
                      <a:srgbClr val="0F172A"/>
                    </a:solidFill>
                  </a:tcPr>
                </a:tc>
                <a:tc>
                  <a:txBody>
                    <a:bodyPr/>
                    <a:lstStyle/>
                    <a:p>
                      <a:pPr>
                        <a:defRPr sz="850" b="1">
                          <a:solidFill>
                            <a:srgbClr val="FFFFFF"/>
                          </a:solidFill>
                        </a:defRPr>
                      </a:pPr>
                      <a:r>
                        <a:t>% Red</a:t>
                      </a:r>
                    </a:p>
                  </a:txBody>
                  <a:tcPr>
                    <a:solidFill>
                      <a:srgbClr val="0F172A"/>
                    </a:solidFill>
                  </a:tcPr>
                </a:tc>
                <a:tc>
                  <a:txBody>
                    <a:bodyPr/>
                    <a:lstStyle/>
                    <a:p>
                      <a:pPr>
                        <a:defRPr sz="850" b="1">
                          <a:solidFill>
                            <a:srgbClr val="FFFFFF"/>
                          </a:solidFill>
                        </a:defRPr>
                      </a:pPr>
                      <a:r>
                        <a:t>WAPE</a:t>
                      </a:r>
                    </a:p>
                  </a:txBody>
                  <a:tcPr>
                    <a:solidFill>
                      <a:srgbClr val="0F172A"/>
                    </a:solidFill>
                  </a:tcPr>
                </a:tc>
                <a:tc>
                  <a:txBody>
                    <a:bodyPr/>
                    <a:lstStyle/>
                    <a:p>
                      <a:pPr>
                        <a:defRPr sz="850" b="1">
                          <a:solidFill>
                            <a:srgbClr val="FFFFFF"/>
                          </a:solidFill>
                        </a:defRPr>
                      </a:pPr>
                      <a:r>
                        <a:t>Bias Base</a:t>
                      </a:r>
                    </a:p>
                  </a:txBody>
                  <a:tcPr>
                    <a:solidFill>
                      <a:srgbClr val="0F172A"/>
                    </a:solidFill>
                  </a:tcPr>
                </a:tc>
                <a:tc>
                  <a:txBody>
                    <a:bodyPr/>
                    <a:lstStyle/>
                    <a:p>
                      <a:pPr>
                        <a:defRPr sz="850" b="1">
                          <a:solidFill>
                            <a:srgbClr val="FFFFFF"/>
                          </a:solidFill>
                        </a:defRPr>
                      </a:pPr>
                      <a:r>
                        <a:t>Diagnóstico Operativo Crítico</a:t>
                      </a:r>
                    </a:p>
                  </a:txBody>
                  <a:tcPr>
                    <a:solidFill>
                      <a:srgbClr val="0F172A"/>
                    </a:solidFill>
                  </a:tcPr>
                </a:tc>
              </a:tr>
              <a:tr h="418011">
                <a:tc>
                  <a:txBody>
                    <a:bodyPr/>
                    <a:lstStyle/>
                    <a:p>
                      <a:pPr>
                        <a:defRPr sz="800" b="1">
                          <a:solidFill>
                            <a:srgbClr val="0F172A"/>
                          </a:solidFill>
                        </a:defRPr>
                      </a:pPr>
                      <a:r>
                        <a:t>CD_SUR</a:t>
                      </a:r>
                    </a:p>
                  </a:txBody>
                  <a:tcPr>
                    <a:solidFill>
                      <a:srgbClr val="FFFFFF"/>
                    </a:solidFill>
                  </a:tcPr>
                </a:tc>
                <a:tc>
                  <a:txBody>
                    <a:bodyPr/>
                    <a:lstStyle/>
                    <a:p>
                      <a:pPr>
                        <a:defRPr sz="800">
                          <a:solidFill>
                            <a:srgbClr val="0F172A"/>
                          </a:solidFill>
                        </a:defRPr>
                      </a:pPr>
                      <a:r>
                        <a:t>510.8k</a:t>
                      </a:r>
                    </a:p>
                  </a:txBody>
                  <a:tcPr>
                    <a:solidFill>
                      <a:srgbClr val="FFFFFF"/>
                    </a:solidFill>
                  </a:tcPr>
                </a:tc>
                <a:tc>
                  <a:txBody>
                    <a:bodyPr/>
                    <a:lstStyle/>
                    <a:p>
                      <a:pPr>
                        <a:defRPr sz="800">
                          <a:solidFill>
                            <a:srgbClr val="0F172A"/>
                          </a:solidFill>
                        </a:defRPr>
                      </a:pPr>
                      <a:r>
                        <a:t>25.4%</a:t>
                      </a:r>
                    </a:p>
                  </a:txBody>
                  <a:tcPr>
                    <a:solidFill>
                      <a:srgbClr val="FFFFFF"/>
                    </a:solidFill>
                  </a:tcPr>
                </a:tc>
                <a:tc>
                  <a:txBody>
                    <a:bodyPr/>
                    <a:lstStyle/>
                    <a:p>
                      <a:pPr>
                        <a:defRPr sz="800" b="1">
                          <a:solidFill>
                            <a:srgbClr val="0F172A"/>
                          </a:solidFill>
                        </a:defRPr>
                      </a:pPr>
                      <a:r>
                        <a:t>31.56%</a:t>
                      </a:r>
                    </a:p>
                  </a:txBody>
                  <a:tcPr>
                    <a:solidFill>
                      <a:srgbClr val="FFFFFF"/>
                    </a:solidFill>
                  </a:tcPr>
                </a:tc>
                <a:tc>
                  <a:txBody>
                    <a:bodyPr/>
                    <a:lstStyle/>
                    <a:p>
                      <a:pPr>
                        <a:defRPr sz="800" b="1">
                          <a:solidFill>
                            <a:srgbClr val="EF4444"/>
                          </a:solidFill>
                        </a:defRPr>
                      </a:pPr>
                      <a:r>
                        <a:t>+31.56%</a:t>
                      </a:r>
                    </a:p>
                  </a:txBody>
                  <a:tcPr>
                    <a:solidFill>
                      <a:srgbClr val="FFFFFF"/>
                    </a:solidFill>
                  </a:tcPr>
                </a:tc>
                <a:tc>
                  <a:txBody>
                    <a:bodyPr/>
                    <a:lstStyle/>
                    <a:p>
                      <a:pPr>
                        <a:defRPr sz="800">
                          <a:solidFill>
                            <a:srgbClr val="0F172A"/>
                          </a:solidFill>
                        </a:defRPr>
                      </a:pPr>
                      <a:r>
                        <a:t>Subestimación Crítica: Déficit 100% de días</a:t>
                      </a:r>
                    </a:p>
                  </a:txBody>
                  <a:tcPr>
                    <a:solidFill>
                      <a:srgbClr val="FFFFFF"/>
                    </a:solidFill>
                  </a:tcPr>
                </a:tc>
              </a:tr>
              <a:tr h="418011">
                <a:tc>
                  <a:txBody>
                    <a:bodyPr/>
                    <a:lstStyle/>
                    <a:p>
                      <a:pPr>
                        <a:defRPr sz="800" b="1">
                          <a:solidFill>
                            <a:srgbClr val="0F172A"/>
                          </a:solidFill>
                        </a:defRPr>
                      </a:pPr>
                      <a:r>
                        <a:t>CD_ESTE</a:t>
                      </a:r>
                    </a:p>
                  </a:txBody>
                  <a:tcPr>
                    <a:solidFill>
                      <a:srgbClr val="F8FAFC"/>
                    </a:solidFill>
                  </a:tcPr>
                </a:tc>
                <a:tc>
                  <a:txBody>
                    <a:bodyPr/>
                    <a:lstStyle/>
                    <a:p>
                      <a:pPr>
                        <a:defRPr sz="800">
                          <a:solidFill>
                            <a:srgbClr val="0F172A"/>
                          </a:solidFill>
                        </a:defRPr>
                      </a:pPr>
                      <a:r>
                        <a:t>183.2k</a:t>
                      </a:r>
                    </a:p>
                  </a:txBody>
                  <a:tcPr>
                    <a:solidFill>
                      <a:srgbClr val="F8FAFC"/>
                    </a:solidFill>
                  </a:tcPr>
                </a:tc>
                <a:tc>
                  <a:txBody>
                    <a:bodyPr/>
                    <a:lstStyle/>
                    <a:p>
                      <a:pPr>
                        <a:defRPr sz="800">
                          <a:solidFill>
                            <a:srgbClr val="0F172A"/>
                          </a:solidFill>
                        </a:defRPr>
                      </a:pPr>
                      <a:r>
                        <a:t>9.1%</a:t>
                      </a:r>
                    </a:p>
                  </a:txBody>
                  <a:tcPr>
                    <a:solidFill>
                      <a:srgbClr val="F8FAFC"/>
                    </a:solidFill>
                  </a:tcPr>
                </a:tc>
                <a:tc>
                  <a:txBody>
                    <a:bodyPr/>
                    <a:lstStyle/>
                    <a:p>
                      <a:pPr>
                        <a:defRPr sz="800" b="1">
                          <a:solidFill>
                            <a:srgbClr val="0F172A"/>
                          </a:solidFill>
                        </a:defRPr>
                      </a:pPr>
                      <a:r>
                        <a:t>25.86%</a:t>
                      </a:r>
                    </a:p>
                  </a:txBody>
                  <a:tcPr>
                    <a:solidFill>
                      <a:srgbClr val="F8FAFC"/>
                    </a:solidFill>
                  </a:tcPr>
                </a:tc>
                <a:tc>
                  <a:txBody>
                    <a:bodyPr/>
                    <a:lstStyle/>
                    <a:p>
                      <a:pPr>
                        <a:defRPr sz="800" b="1">
                          <a:solidFill>
                            <a:srgbClr val="EF4444"/>
                          </a:solidFill>
                        </a:defRPr>
                      </a:pPr>
                      <a:r>
                        <a:t>+25.30%</a:t>
                      </a:r>
                    </a:p>
                  </a:txBody>
                  <a:tcPr>
                    <a:solidFill>
                      <a:srgbClr val="F8FAFC"/>
                    </a:solidFill>
                  </a:tcPr>
                </a:tc>
                <a:tc>
                  <a:txBody>
                    <a:bodyPr/>
                    <a:lstStyle/>
                    <a:p>
                      <a:pPr>
                        <a:defRPr sz="800">
                          <a:solidFill>
                            <a:srgbClr val="0F172A"/>
                          </a:solidFill>
                        </a:defRPr>
                      </a:pPr>
                      <a:r>
                        <a:t>Subestimación Estructural: Capacidad superada</a:t>
                      </a:r>
                    </a:p>
                  </a:txBody>
                  <a:tcPr>
                    <a:solidFill>
                      <a:srgbClr val="F8FAFC"/>
                    </a:solidFill>
                  </a:tcPr>
                </a:tc>
              </a:tr>
              <a:tr h="418011">
                <a:tc>
                  <a:txBody>
                    <a:bodyPr/>
                    <a:lstStyle/>
                    <a:p>
                      <a:pPr>
                        <a:defRPr sz="800" b="1">
                          <a:solidFill>
                            <a:srgbClr val="0F172A"/>
                          </a:solidFill>
                        </a:defRPr>
                      </a:pPr>
                      <a:r>
                        <a:t>CD_NORTE</a:t>
                      </a:r>
                    </a:p>
                  </a:txBody>
                  <a:tcPr>
                    <a:solidFill>
                      <a:srgbClr val="FFFFFF"/>
                    </a:solidFill>
                  </a:tcPr>
                </a:tc>
                <a:tc>
                  <a:txBody>
                    <a:bodyPr/>
                    <a:lstStyle/>
                    <a:p>
                      <a:pPr>
                        <a:defRPr sz="800">
                          <a:solidFill>
                            <a:srgbClr val="0F172A"/>
                          </a:solidFill>
                        </a:defRPr>
                      </a:pPr>
                      <a:r>
                        <a:t>705.8k</a:t>
                      </a:r>
                    </a:p>
                  </a:txBody>
                  <a:tcPr>
                    <a:solidFill>
                      <a:srgbClr val="FFFFFF"/>
                    </a:solidFill>
                  </a:tcPr>
                </a:tc>
                <a:tc>
                  <a:txBody>
                    <a:bodyPr/>
                    <a:lstStyle/>
                    <a:p>
                      <a:pPr>
                        <a:defRPr sz="800">
                          <a:solidFill>
                            <a:srgbClr val="0F172A"/>
                          </a:solidFill>
                        </a:defRPr>
                      </a:pPr>
                      <a:r>
                        <a:t>35.1%</a:t>
                      </a:r>
                    </a:p>
                  </a:txBody>
                  <a:tcPr>
                    <a:solidFill>
                      <a:srgbClr val="FFFFFF"/>
                    </a:solidFill>
                  </a:tcPr>
                </a:tc>
                <a:tc>
                  <a:txBody>
                    <a:bodyPr/>
                    <a:lstStyle/>
                    <a:p>
                      <a:pPr>
                        <a:defRPr sz="800" b="1">
                          <a:solidFill>
                            <a:srgbClr val="0F172A"/>
                          </a:solidFill>
                        </a:defRPr>
                      </a:pPr>
                      <a:r>
                        <a:t>9.82%</a:t>
                      </a:r>
                    </a:p>
                  </a:txBody>
                  <a:tcPr>
                    <a:solidFill>
                      <a:srgbClr val="FFFFFF"/>
                    </a:solidFill>
                  </a:tcPr>
                </a:tc>
                <a:tc>
                  <a:txBody>
                    <a:bodyPr/>
                    <a:lstStyle/>
                    <a:p>
                      <a:pPr>
                        <a:defRPr sz="800" b="1">
                          <a:solidFill>
                            <a:srgbClr val="EF4444"/>
                          </a:solidFill>
                        </a:defRPr>
                      </a:pPr>
                      <a:r>
                        <a:t>+7.47%</a:t>
                      </a:r>
                    </a:p>
                  </a:txBody>
                  <a:tcPr>
                    <a:solidFill>
                      <a:srgbClr val="FFFFFF"/>
                    </a:solidFill>
                  </a:tcPr>
                </a:tc>
                <a:tc>
                  <a:txBody>
                    <a:bodyPr/>
                    <a:lstStyle/>
                    <a:p>
                      <a:pPr>
                        <a:defRPr sz="800">
                          <a:solidFill>
                            <a:srgbClr val="0F172A"/>
                          </a:solidFill>
                        </a:defRPr>
                      </a:pPr>
                      <a:r>
                        <a:t>Subestimación en Picos: Satura andenes martes</a:t>
                      </a:r>
                    </a:p>
                  </a:txBody>
                  <a:tcPr>
                    <a:solidFill>
                      <a:srgbClr val="FFFFFF"/>
                    </a:solidFill>
                  </a:tcPr>
                </a:tc>
              </a:tr>
              <a:tr h="418011">
                <a:tc>
                  <a:txBody>
                    <a:bodyPr/>
                    <a:lstStyle/>
                    <a:p>
                      <a:pPr>
                        <a:defRPr sz="800" b="1">
                          <a:solidFill>
                            <a:srgbClr val="0F172A"/>
                          </a:solidFill>
                        </a:defRPr>
                      </a:pPr>
                      <a:r>
                        <a:t>CD_CENTRO</a:t>
                      </a:r>
                    </a:p>
                  </a:txBody>
                  <a:tcPr>
                    <a:solidFill>
                      <a:srgbClr val="F8FAFC"/>
                    </a:solidFill>
                  </a:tcPr>
                </a:tc>
                <a:tc>
                  <a:txBody>
                    <a:bodyPr/>
                    <a:lstStyle/>
                    <a:p>
                      <a:pPr>
                        <a:defRPr sz="800">
                          <a:solidFill>
                            <a:srgbClr val="0F172A"/>
                          </a:solidFill>
                        </a:defRPr>
                      </a:pPr>
                      <a:r>
                        <a:t>346.5k</a:t>
                      </a:r>
                    </a:p>
                  </a:txBody>
                  <a:tcPr>
                    <a:solidFill>
                      <a:srgbClr val="F8FAFC"/>
                    </a:solidFill>
                  </a:tcPr>
                </a:tc>
                <a:tc>
                  <a:txBody>
                    <a:bodyPr/>
                    <a:lstStyle/>
                    <a:p>
                      <a:pPr>
                        <a:defRPr sz="800">
                          <a:solidFill>
                            <a:srgbClr val="0F172A"/>
                          </a:solidFill>
                        </a:defRPr>
                      </a:pPr>
                      <a:r>
                        <a:t>17.2%</a:t>
                      </a:r>
                    </a:p>
                  </a:txBody>
                  <a:tcPr>
                    <a:solidFill>
                      <a:srgbClr val="F8FAFC"/>
                    </a:solidFill>
                  </a:tcPr>
                </a:tc>
                <a:tc>
                  <a:txBody>
                    <a:bodyPr/>
                    <a:lstStyle/>
                    <a:p>
                      <a:pPr>
                        <a:defRPr sz="800" b="1">
                          <a:solidFill>
                            <a:srgbClr val="0F172A"/>
                          </a:solidFill>
                        </a:defRPr>
                      </a:pPr>
                      <a:r>
                        <a:t>23.28%</a:t>
                      </a:r>
                    </a:p>
                  </a:txBody>
                  <a:tcPr>
                    <a:solidFill>
                      <a:srgbClr val="F8FAFC"/>
                    </a:solidFill>
                  </a:tcPr>
                </a:tc>
                <a:tc>
                  <a:txBody>
                    <a:bodyPr/>
                    <a:lstStyle/>
                    <a:p>
                      <a:pPr>
                        <a:defRPr sz="800" b="1">
                          <a:solidFill>
                            <a:srgbClr val="2563EB"/>
                          </a:solidFill>
                        </a:defRPr>
                      </a:pPr>
                      <a:r>
                        <a:t>-20.21%</a:t>
                      </a:r>
                    </a:p>
                  </a:txBody>
                  <a:tcPr>
                    <a:solidFill>
                      <a:srgbClr val="F8FAFC"/>
                    </a:solidFill>
                  </a:tcPr>
                </a:tc>
                <a:tc>
                  <a:txBody>
                    <a:bodyPr/>
                    <a:lstStyle/>
                    <a:p>
                      <a:pPr>
                        <a:defRPr sz="800">
                          <a:solidFill>
                            <a:srgbClr val="0F172A"/>
                          </a:solidFill>
                        </a:defRPr>
                      </a:pPr>
                      <a:r>
                        <a:t>Sobreestimación Crónica: Capacidad ociosa</a:t>
                      </a:r>
                    </a:p>
                  </a:txBody>
                  <a:tcPr>
                    <a:solidFill>
                      <a:srgbClr val="F8FAFC"/>
                    </a:solidFill>
                  </a:tcPr>
                </a:tc>
              </a:tr>
              <a:tr h="418011">
                <a:tc>
                  <a:txBody>
                    <a:bodyPr/>
                    <a:lstStyle/>
                    <a:p>
                      <a:pPr>
                        <a:defRPr sz="800" b="1">
                          <a:solidFill>
                            <a:srgbClr val="0F172A"/>
                          </a:solidFill>
                        </a:defRPr>
                      </a:pPr>
                      <a:r>
                        <a:t>CD_PACIFICO</a:t>
                      </a:r>
                    </a:p>
                  </a:txBody>
                  <a:tcPr>
                    <a:solidFill>
                      <a:srgbClr val="FFFFFF"/>
                    </a:solidFill>
                  </a:tcPr>
                </a:tc>
                <a:tc>
                  <a:txBody>
                    <a:bodyPr/>
                    <a:lstStyle/>
                    <a:p>
                      <a:pPr>
                        <a:defRPr sz="800">
                          <a:solidFill>
                            <a:srgbClr val="0F172A"/>
                          </a:solidFill>
                        </a:defRPr>
                      </a:pPr>
                      <a:r>
                        <a:t>152.6k</a:t>
                      </a:r>
                    </a:p>
                  </a:txBody>
                  <a:tcPr>
                    <a:solidFill>
                      <a:srgbClr val="FFFFFF"/>
                    </a:solidFill>
                  </a:tcPr>
                </a:tc>
                <a:tc>
                  <a:txBody>
                    <a:bodyPr/>
                    <a:lstStyle/>
                    <a:p>
                      <a:pPr>
                        <a:defRPr sz="800">
                          <a:solidFill>
                            <a:srgbClr val="0F172A"/>
                          </a:solidFill>
                        </a:defRPr>
                      </a:pPr>
                      <a:r>
                        <a:t>7.6%</a:t>
                      </a:r>
                    </a:p>
                  </a:txBody>
                  <a:tcPr>
                    <a:solidFill>
                      <a:srgbClr val="FFFFFF"/>
                    </a:solidFill>
                  </a:tcPr>
                </a:tc>
                <a:tc>
                  <a:txBody>
                    <a:bodyPr/>
                    <a:lstStyle/>
                    <a:p>
                      <a:pPr>
                        <a:defRPr sz="800" b="1">
                          <a:solidFill>
                            <a:srgbClr val="0F172A"/>
                          </a:solidFill>
                        </a:defRPr>
                      </a:pPr>
                      <a:r>
                        <a:t>22.15%</a:t>
                      </a:r>
                    </a:p>
                  </a:txBody>
                  <a:tcPr>
                    <a:solidFill>
                      <a:srgbClr val="FFFFFF"/>
                    </a:solidFill>
                  </a:tcPr>
                </a:tc>
                <a:tc>
                  <a:txBody>
                    <a:bodyPr/>
                    <a:lstStyle/>
                    <a:p>
                      <a:pPr>
                        <a:defRPr sz="800" b="1">
                          <a:solidFill>
                            <a:srgbClr val="2563EB"/>
                          </a:solidFill>
                        </a:defRPr>
                      </a:pPr>
                      <a:r>
                        <a:t>-21.58%</a:t>
                      </a:r>
                    </a:p>
                  </a:txBody>
                  <a:tcPr>
                    <a:solidFill>
                      <a:srgbClr val="FFFFFF"/>
                    </a:solidFill>
                  </a:tcPr>
                </a:tc>
                <a:tc>
                  <a:txBody>
                    <a:bodyPr/>
                    <a:lstStyle/>
                    <a:p>
                      <a:pPr>
                        <a:defRPr sz="800">
                          <a:solidFill>
                            <a:srgbClr val="0F172A"/>
                          </a:solidFill>
                        </a:defRPr>
                      </a:pPr>
                      <a:r>
                        <a:t>Sobreestimación Sistemática: Sobrestock</a:t>
                      </a:r>
                    </a:p>
                  </a:txBody>
                  <a:tcPr>
                    <a:solidFill>
                      <a:srgbClr val="FFFFFF"/>
                    </a:solidFill>
                  </a:tcPr>
                </a:tc>
              </a:tr>
              <a:tr h="418014">
                <a:tc>
                  <a:txBody>
                    <a:bodyPr/>
                    <a:lstStyle/>
                    <a:p>
                      <a:pPr>
                        <a:defRPr sz="800" b="1">
                          <a:solidFill>
                            <a:srgbClr val="0F172A"/>
                          </a:solidFill>
                        </a:defRPr>
                      </a:pPr>
                      <a:r>
                        <a:t>CD_OESTE</a:t>
                      </a:r>
                    </a:p>
                  </a:txBody>
                  <a:tcPr>
                    <a:solidFill>
                      <a:srgbClr val="F8FAFC"/>
                    </a:solidFill>
                  </a:tcPr>
                </a:tc>
                <a:tc>
                  <a:txBody>
                    <a:bodyPr/>
                    <a:lstStyle/>
                    <a:p>
                      <a:pPr>
                        <a:defRPr sz="800">
                          <a:solidFill>
                            <a:srgbClr val="0F172A"/>
                          </a:solidFill>
                        </a:defRPr>
                      </a:pPr>
                      <a:r>
                        <a:t>113.0k</a:t>
                      </a:r>
                    </a:p>
                  </a:txBody>
                  <a:tcPr>
                    <a:solidFill>
                      <a:srgbClr val="F8FAFC"/>
                    </a:solidFill>
                  </a:tcPr>
                </a:tc>
                <a:tc>
                  <a:txBody>
                    <a:bodyPr/>
                    <a:lstStyle/>
                    <a:p>
                      <a:pPr>
                        <a:defRPr sz="800">
                          <a:solidFill>
                            <a:srgbClr val="0F172A"/>
                          </a:solidFill>
                        </a:defRPr>
                      </a:pPr>
                      <a:r>
                        <a:t>5.6%</a:t>
                      </a:r>
                    </a:p>
                  </a:txBody>
                  <a:tcPr>
                    <a:solidFill>
                      <a:srgbClr val="F8FAFC"/>
                    </a:solidFill>
                  </a:tcPr>
                </a:tc>
                <a:tc>
                  <a:txBody>
                    <a:bodyPr/>
                    <a:lstStyle/>
                    <a:p>
                      <a:pPr>
                        <a:defRPr sz="800" b="1">
                          <a:solidFill>
                            <a:srgbClr val="0F172A"/>
                          </a:solidFill>
                        </a:defRPr>
                      </a:pPr>
                      <a:r>
                        <a:t>23.90%</a:t>
                      </a:r>
                    </a:p>
                  </a:txBody>
                  <a:tcPr>
                    <a:solidFill>
                      <a:srgbClr val="F8FAFC"/>
                    </a:solidFill>
                  </a:tcPr>
                </a:tc>
                <a:tc>
                  <a:txBody>
                    <a:bodyPr/>
                    <a:lstStyle/>
                    <a:p>
                      <a:pPr>
                        <a:defRPr sz="800" b="1">
                          <a:solidFill>
                            <a:srgbClr val="2563EB"/>
                          </a:solidFill>
                        </a:defRPr>
                      </a:pPr>
                      <a:r>
                        <a:t>-22.66%</a:t>
                      </a:r>
                    </a:p>
                  </a:txBody>
                  <a:tcPr>
                    <a:solidFill>
                      <a:srgbClr val="F8FAFC"/>
                    </a:solidFill>
                  </a:tcPr>
                </a:tc>
                <a:tc>
                  <a:txBody>
                    <a:bodyPr/>
                    <a:lstStyle/>
                    <a:p>
                      <a:pPr>
                        <a:defRPr sz="800">
                          <a:solidFill>
                            <a:srgbClr val="0F172A"/>
                          </a:solidFill>
                        </a:defRPr>
                      </a:pPr>
                      <a:r>
                        <a:t>Sobreestimación Sistemática: Flota ociosa</a:t>
                      </a:r>
                    </a:p>
                  </a:txBody>
                  <a:tcPr>
                    <a:solidFill>
                      <a:srgbClr val="F8FAFC"/>
                    </a:solidFill>
                  </a:tcPr>
                </a:tc>
              </a:tr>
            </a:tbl>
          </a:graphicData>
        </a:graphic>
      </p:graphicFrame>
      <p:sp>
        <p:nvSpPr>
          <p:cNvPr id="6" name="Rounded Rectangle 5"/>
          <p:cNvSpPr/>
          <p:nvPr/>
        </p:nvSpPr>
        <p:spPr>
          <a:xfrm>
            <a:off x="457200" y="4434840"/>
            <a:ext cx="6217920" cy="1965960"/>
          </a:xfrm>
          <a:prstGeom prst="roundRect">
            <a:avLst/>
          </a:prstGeom>
          <a:solidFill>
            <a:srgbClr val="EFF6FF"/>
          </a:solidFill>
          <a:ln>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a:lstStyle/>
          <a:p>
            <a:pPr algn="ctr">
              <a:defRPr sz="950" b="1">
                <a:solidFill>
                  <a:srgbClr val="2563EB"/>
                </a:solidFill>
              </a:defRPr>
            </a:pPr>
            <a:r>
              <a:t>HALLAZGO ESTRUCTURAL DE RED LOGÍSTICA (PREGUNTA 1 DEL PDF):</a:t>
            </a:r>
          </a:p>
          <a:p>
            <a:pPr>
              <a:defRPr sz="850">
                <a:solidFill>
                  <a:srgbClr val="0F172A"/>
                </a:solidFill>
              </a:defRPr>
            </a:pPr>
            <a:r>
              <a:t>• Bloque Deficitario (Bias &gt; 0): CD_NORTE, CD_SUR y CD_ESTE concentran el 69.6% de la demanda física (1.40 millones de unidades). La subestimación sistemática obliga a contratar transporte spot de urgencia.</a:t>
            </a:r>
            <a:br/>
            <a:r>
              <a:t>• Bloque Excedentario (Bias &lt; 0): CD_CENTRO, CD_PACIFICO y CD_OESTE representan el 30.4% restante y proyectan un 20% por encima de la realidad, inmovilizando inventario y encareciendo almacenamiento.</a:t>
            </a:r>
            <a:br/>
            <a:r>
              <a:t>• Conclusión: El error no es ruido blanco gaussiano; es una fractura territorial estructural que exige corrección aditiva.</a:t>
            </a:r>
          </a:p>
        </p:txBody>
      </p:sp>
      <p:pic>
        <p:nvPicPr>
          <p:cNvPr id="7" name="Picture 6" descr="heatmap_bias_centro_horizonte.png"/>
          <p:cNvPicPr>
            <a:picLocks noChangeAspect="1"/>
          </p:cNvPicPr>
          <p:nvPr/>
        </p:nvPicPr>
        <p:blipFill>
          <a:blip r:embed="rId2"/>
          <a:stretch>
            <a:fillRect/>
          </a:stretch>
        </p:blipFill>
        <p:spPr>
          <a:xfrm>
            <a:off x="6858000" y="1371600"/>
            <a:ext cx="4892040" cy="366903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4747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457200" tIns="54864"/>
          <a:lstStyle/>
          <a:p>
            <a:pPr algn="ctr">
              <a:defRPr sz="850" b="1">
                <a:solidFill>
                  <a:srgbClr val="38BDF8"/>
                </a:solidFill>
              </a:defRPr>
            </a:pPr>
            <a:r>
              <a:t>ESTRATEGIA ANALÍTICA &amp; OPTIMIZACIÓN DE SUPPLY CHAIN B2B  |  DESAFÍO TÉCNICO: DATA SCIENTIST LEAD</a:t>
            </a:r>
          </a:p>
        </p:txBody>
      </p:sp>
      <p:sp>
        <p:nvSpPr>
          <p:cNvPr id="3" name="Rectangle 2"/>
          <p:cNvSpPr/>
          <p:nvPr/>
        </p:nvSpPr>
        <p:spPr>
          <a:xfrm>
            <a:off x="0" y="6510528"/>
            <a:ext cx="12191695" cy="347472"/>
          </a:xfrm>
          <a:prstGeom prst="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457200" tIns="54864"/>
          <a:lstStyle/>
          <a:p>
            <a:pPr algn="ctr">
              <a:defRPr sz="850">
                <a:solidFill>
                  <a:srgbClr val="64748B"/>
                </a:solidFill>
              </a:defRPr>
            </a:pPr>
            <a:r>
              <a:t>Sebastián Felipe Urzúa Bórquez | Postulación Data Scientist Lead | Presentación Técnica Oficial          Diapositiva 3 de 10</a:t>
            </a:r>
          </a:p>
        </p:txBody>
      </p:sp>
      <p:sp>
        <p:nvSpPr>
          <p:cNvPr id="4" name="TextBox 3"/>
          <p:cNvSpPr txBox="1"/>
          <p:nvPr/>
        </p:nvSpPr>
        <p:spPr>
          <a:xfrm>
            <a:off x="457200" y="402336"/>
            <a:ext cx="11277295" cy="868680"/>
          </a:xfrm>
          <a:prstGeom prst="rect">
            <a:avLst/>
          </a:prstGeom>
          <a:noFill/>
        </p:spPr>
        <p:txBody>
          <a:bodyPr wrap="square" lIns="0" tIns="0" rIns="0" bIns="0">
            <a:spAutoFit/>
          </a:bodyPr>
          <a:lstStyle/>
          <a:p>
            <a:pPr>
              <a:defRPr sz="900" b="1">
                <a:solidFill>
                  <a:srgbClr val="2563EB"/>
                </a:solidFill>
              </a:defRPr>
            </a:pPr>
            <a:r>
              <a:t>TAREA 1: DEGRADACIÓN POR HORIZONTE TEMPORAL Y FORMULACIÓN DE PÉRDIDA ASIMÉTRICA</a:t>
            </a:r>
          </a:p>
          <a:p>
            <a:pPr>
              <a:defRPr sz="1550" b="1">
                <a:solidFill>
                  <a:srgbClr val="0F172A"/>
                </a:solidFill>
              </a:defRPr>
            </a:pPr>
            <a:r>
              <a:t>El WAPE se degrada en +2.76 pp hacia D+4, amplificando una Pérdida Asimétrica real del 41.4% por penalización de fletes spot.</a:t>
            </a:r>
          </a:p>
        </p:txBody>
      </p:sp>
      <p:graphicFrame>
        <p:nvGraphicFramePr>
          <p:cNvPr id="5" name="Table 4"/>
          <p:cNvGraphicFramePr>
            <a:graphicFrameLocks noGrp="1"/>
          </p:cNvGraphicFramePr>
          <p:nvPr/>
        </p:nvGraphicFramePr>
        <p:xfrm>
          <a:off x="457200" y="1371600"/>
          <a:ext cx="6217920" cy="2011680"/>
        </p:xfrm>
        <a:graphic>
          <a:graphicData uri="http://schemas.openxmlformats.org/drawingml/2006/table">
            <a:tbl>
              <a:tblPr firstRow="1" bandRow="1">
                <a:tableStyleId>{5C22544A-7EE6-4342-B048-85BDC9FD1C3A}</a:tableStyleId>
              </a:tblPr>
              <a:tblGrid>
                <a:gridCol w="1371600"/>
                <a:gridCol w="1097280"/>
                <a:gridCol w="1005840"/>
                <a:gridCol w="1097280"/>
                <a:gridCol w="1645920"/>
              </a:tblGrid>
              <a:tr h="402336">
                <a:tc>
                  <a:txBody>
                    <a:bodyPr/>
                    <a:lstStyle/>
                    <a:p>
                      <a:pPr>
                        <a:defRPr sz="850" b="1">
                          <a:solidFill>
                            <a:srgbClr val="FFFFFF"/>
                          </a:solidFill>
                        </a:defRPr>
                      </a:pPr>
                      <a:r>
                        <a:t>Horizonte</a:t>
                      </a:r>
                    </a:p>
                  </a:txBody>
                  <a:tcPr>
                    <a:solidFill>
                      <a:srgbClr val="0F172A"/>
                    </a:solidFill>
                  </a:tcPr>
                </a:tc>
                <a:tc>
                  <a:txBody>
                    <a:bodyPr/>
                    <a:lstStyle/>
                    <a:p>
                      <a:pPr>
                        <a:defRPr sz="850" b="1">
                          <a:solidFill>
                            <a:srgbClr val="FFFFFF"/>
                          </a:solidFill>
                        </a:defRPr>
                      </a:pPr>
                      <a:r>
                        <a:t>WAPE Base</a:t>
                      </a:r>
                    </a:p>
                  </a:txBody>
                  <a:tcPr>
                    <a:solidFill>
                      <a:srgbClr val="0F172A"/>
                    </a:solidFill>
                  </a:tcPr>
                </a:tc>
                <a:tc>
                  <a:txBody>
                    <a:bodyPr/>
                    <a:lstStyle/>
                    <a:p>
                      <a:pPr>
                        <a:defRPr sz="850" b="1">
                          <a:solidFill>
                            <a:srgbClr val="FFFFFF"/>
                          </a:solidFill>
                        </a:defRPr>
                      </a:pPr>
                      <a:r>
                        <a:t>Bias Base</a:t>
                      </a:r>
                    </a:p>
                  </a:txBody>
                  <a:tcPr>
                    <a:solidFill>
                      <a:srgbClr val="0F172A"/>
                    </a:solidFill>
                  </a:tcPr>
                </a:tc>
                <a:tc>
                  <a:txBody>
                    <a:bodyPr/>
                    <a:lstStyle/>
                    <a:p>
                      <a:pPr>
                        <a:defRPr sz="850" b="1">
                          <a:solidFill>
                            <a:srgbClr val="FFFFFF"/>
                          </a:solidFill>
                        </a:defRPr>
                      </a:pPr>
                      <a:r>
                        <a:t>Delta vs D+1</a:t>
                      </a:r>
                    </a:p>
                  </a:txBody>
                  <a:tcPr>
                    <a:solidFill>
                      <a:srgbClr val="0F172A"/>
                    </a:solidFill>
                  </a:tcPr>
                </a:tc>
                <a:tc>
                  <a:txBody>
                    <a:bodyPr/>
                    <a:lstStyle/>
                    <a:p>
                      <a:pPr>
                        <a:defRPr sz="850" b="1">
                          <a:solidFill>
                            <a:srgbClr val="FFFFFF"/>
                          </a:solidFill>
                        </a:defRPr>
                      </a:pPr>
                      <a:r>
                        <a:t>Deterioro Relativo</a:t>
                      </a:r>
                    </a:p>
                  </a:txBody>
                  <a:tcPr>
                    <a:solidFill>
                      <a:srgbClr val="0F172A"/>
                    </a:solidFill>
                  </a:tcPr>
                </a:tc>
              </a:tr>
              <a:tr h="402336">
                <a:tc>
                  <a:txBody>
                    <a:bodyPr/>
                    <a:lstStyle/>
                    <a:p>
                      <a:pPr>
                        <a:defRPr sz="850" b="1">
                          <a:solidFill>
                            <a:srgbClr val="0F172A"/>
                          </a:solidFill>
                        </a:defRPr>
                      </a:pPr>
                      <a:r>
                        <a:t>D+1 (24 hrs)</a:t>
                      </a:r>
                    </a:p>
                  </a:txBody>
                  <a:tcPr>
                    <a:solidFill>
                      <a:srgbClr val="FFFFFF"/>
                    </a:solidFill>
                  </a:tcPr>
                </a:tc>
                <a:tc>
                  <a:txBody>
                    <a:bodyPr/>
                    <a:lstStyle/>
                    <a:p>
                      <a:pPr>
                        <a:defRPr sz="850" b="1">
                          <a:solidFill>
                            <a:srgbClr val="0F172A"/>
                          </a:solidFill>
                        </a:defRPr>
                      </a:pPr>
                      <a:r>
                        <a:t>19.77%</a:t>
                      </a:r>
                    </a:p>
                  </a:txBody>
                  <a:tcPr>
                    <a:solidFill>
                      <a:srgbClr val="FFFFFF"/>
                    </a:solidFill>
                  </a:tcPr>
                </a:tc>
                <a:tc>
                  <a:txBody>
                    <a:bodyPr/>
                    <a:lstStyle/>
                    <a:p>
                      <a:pPr>
                        <a:defRPr sz="850">
                          <a:solidFill>
                            <a:srgbClr val="0F172A"/>
                          </a:solidFill>
                        </a:defRPr>
                      </a:pPr>
                      <a:r>
                        <a:t>+6.69%</a:t>
                      </a:r>
                    </a:p>
                  </a:txBody>
                  <a:tcPr>
                    <a:solidFill>
                      <a:srgbClr val="FFFFFF"/>
                    </a:solidFill>
                  </a:tcPr>
                </a:tc>
                <a:tc>
                  <a:txBody>
                    <a:bodyPr/>
                    <a:lstStyle/>
                    <a:p>
                      <a:pPr>
                        <a:defRPr sz="850" b="1">
                          <a:solidFill>
                            <a:srgbClr val="0F172A"/>
                          </a:solidFill>
                        </a:defRPr>
                      </a:pPr>
                      <a:r>
                        <a:t>Baseline</a:t>
                      </a:r>
                    </a:p>
                  </a:txBody>
                  <a:tcPr>
                    <a:solidFill>
                      <a:srgbClr val="FFFFFF"/>
                    </a:solidFill>
                  </a:tcPr>
                </a:tc>
                <a:tc>
                  <a:txBody>
                    <a:bodyPr/>
                    <a:lstStyle/>
                    <a:p>
                      <a:pPr>
                        <a:defRPr sz="850">
                          <a:solidFill>
                            <a:srgbClr val="0F172A"/>
                          </a:solidFill>
                        </a:defRPr>
                      </a:pPr>
                      <a:r>
                        <a:t>Máxima precisión actual</a:t>
                      </a:r>
                    </a:p>
                  </a:txBody>
                  <a:tcPr>
                    <a:solidFill>
                      <a:srgbClr val="FFFFFF"/>
                    </a:solidFill>
                  </a:tcPr>
                </a:tc>
              </a:tr>
              <a:tr h="402336">
                <a:tc>
                  <a:txBody>
                    <a:bodyPr/>
                    <a:lstStyle/>
                    <a:p>
                      <a:pPr>
                        <a:defRPr sz="850" b="1">
                          <a:solidFill>
                            <a:srgbClr val="0F172A"/>
                          </a:solidFill>
                        </a:defRPr>
                      </a:pPr>
                      <a:r>
                        <a:t>D+2 (48 hrs)</a:t>
                      </a:r>
                    </a:p>
                  </a:txBody>
                  <a:tcPr>
                    <a:solidFill>
                      <a:srgbClr val="F8FAFC"/>
                    </a:solidFill>
                  </a:tcPr>
                </a:tc>
                <a:tc>
                  <a:txBody>
                    <a:bodyPr/>
                    <a:lstStyle/>
                    <a:p>
                      <a:pPr>
                        <a:defRPr sz="850" b="1">
                          <a:solidFill>
                            <a:srgbClr val="0F172A"/>
                          </a:solidFill>
                        </a:defRPr>
                      </a:pPr>
                      <a:r>
                        <a:t>20.30%</a:t>
                      </a:r>
                    </a:p>
                  </a:txBody>
                  <a:tcPr>
                    <a:solidFill>
                      <a:srgbClr val="F8FAFC"/>
                    </a:solidFill>
                  </a:tcPr>
                </a:tc>
                <a:tc>
                  <a:txBody>
                    <a:bodyPr/>
                    <a:lstStyle/>
                    <a:p>
                      <a:pPr>
                        <a:defRPr sz="850">
                          <a:solidFill>
                            <a:srgbClr val="0F172A"/>
                          </a:solidFill>
                        </a:defRPr>
                      </a:pPr>
                      <a:r>
                        <a:t>+6.70%</a:t>
                      </a:r>
                    </a:p>
                  </a:txBody>
                  <a:tcPr>
                    <a:solidFill>
                      <a:srgbClr val="F8FAFC"/>
                    </a:solidFill>
                  </a:tcPr>
                </a:tc>
                <a:tc>
                  <a:txBody>
                    <a:bodyPr/>
                    <a:lstStyle/>
                    <a:p>
                      <a:pPr>
                        <a:defRPr sz="850" b="1">
                          <a:solidFill>
                            <a:srgbClr val="0F172A"/>
                          </a:solidFill>
                        </a:defRPr>
                      </a:pPr>
                      <a:r>
                        <a:t>+0.53 pp</a:t>
                      </a:r>
                    </a:p>
                  </a:txBody>
                  <a:tcPr>
                    <a:solidFill>
                      <a:srgbClr val="F8FAFC"/>
                    </a:solidFill>
                  </a:tcPr>
                </a:tc>
                <a:tc>
                  <a:txBody>
                    <a:bodyPr/>
                    <a:lstStyle/>
                    <a:p>
                      <a:pPr>
                        <a:defRPr sz="850">
                          <a:solidFill>
                            <a:srgbClr val="0F172A"/>
                          </a:solidFill>
                        </a:defRPr>
                      </a:pPr>
                      <a:r>
                        <a:t>Deterioro inicial de preventa</a:t>
                      </a:r>
                    </a:p>
                  </a:txBody>
                  <a:tcPr>
                    <a:solidFill>
                      <a:srgbClr val="F8FAFC"/>
                    </a:solidFill>
                  </a:tcPr>
                </a:tc>
              </a:tr>
              <a:tr h="402336">
                <a:tc>
                  <a:txBody>
                    <a:bodyPr/>
                    <a:lstStyle/>
                    <a:p>
                      <a:pPr>
                        <a:defRPr sz="850" b="1">
                          <a:solidFill>
                            <a:srgbClr val="0F172A"/>
                          </a:solidFill>
                        </a:defRPr>
                      </a:pPr>
                      <a:r>
                        <a:t>D+3 (72 hrs)</a:t>
                      </a:r>
                    </a:p>
                  </a:txBody>
                  <a:tcPr>
                    <a:solidFill>
                      <a:srgbClr val="FFFFFF"/>
                    </a:solidFill>
                  </a:tcPr>
                </a:tc>
                <a:tc>
                  <a:txBody>
                    <a:bodyPr/>
                    <a:lstStyle/>
                    <a:p>
                      <a:pPr>
                        <a:defRPr sz="850" b="1">
                          <a:solidFill>
                            <a:srgbClr val="0F172A"/>
                          </a:solidFill>
                        </a:defRPr>
                      </a:pPr>
                      <a:r>
                        <a:t>20.85%</a:t>
                      </a:r>
                    </a:p>
                  </a:txBody>
                  <a:tcPr>
                    <a:solidFill>
                      <a:srgbClr val="FFFFFF"/>
                    </a:solidFill>
                  </a:tcPr>
                </a:tc>
                <a:tc>
                  <a:txBody>
                    <a:bodyPr/>
                    <a:lstStyle/>
                    <a:p>
                      <a:pPr>
                        <a:defRPr sz="850">
                          <a:solidFill>
                            <a:srgbClr val="0F172A"/>
                          </a:solidFill>
                        </a:defRPr>
                      </a:pPr>
                      <a:r>
                        <a:t>+6.70%</a:t>
                      </a:r>
                    </a:p>
                  </a:txBody>
                  <a:tcPr>
                    <a:solidFill>
                      <a:srgbClr val="FFFFFF"/>
                    </a:solidFill>
                  </a:tcPr>
                </a:tc>
                <a:tc>
                  <a:txBody>
                    <a:bodyPr/>
                    <a:lstStyle/>
                    <a:p>
                      <a:pPr>
                        <a:defRPr sz="850" b="1">
                          <a:solidFill>
                            <a:srgbClr val="0F172A"/>
                          </a:solidFill>
                        </a:defRPr>
                      </a:pPr>
                      <a:r>
                        <a:t>+1.08 pp</a:t>
                      </a:r>
                    </a:p>
                  </a:txBody>
                  <a:tcPr>
                    <a:solidFill>
                      <a:srgbClr val="FFFFFF"/>
                    </a:solidFill>
                  </a:tcPr>
                </a:tc>
                <a:tc>
                  <a:txBody>
                    <a:bodyPr/>
                    <a:lstStyle/>
                    <a:p>
                      <a:pPr>
                        <a:defRPr sz="850">
                          <a:solidFill>
                            <a:srgbClr val="0F172A"/>
                          </a:solidFill>
                        </a:defRPr>
                      </a:pPr>
                      <a:r>
                        <a:t>Pérdida de visibilidad pedidos</a:t>
                      </a:r>
                    </a:p>
                  </a:txBody>
                  <a:tcPr>
                    <a:solidFill>
                      <a:srgbClr val="FFFFFF"/>
                    </a:solidFill>
                  </a:tcPr>
                </a:tc>
              </a:tr>
              <a:tr h="402336">
                <a:tc>
                  <a:txBody>
                    <a:bodyPr/>
                    <a:lstStyle/>
                    <a:p>
                      <a:pPr>
                        <a:defRPr sz="850" b="1">
                          <a:solidFill>
                            <a:srgbClr val="0F172A"/>
                          </a:solidFill>
                        </a:defRPr>
                      </a:pPr>
                      <a:r>
                        <a:t>D+4 (96 hrs)</a:t>
                      </a:r>
                    </a:p>
                  </a:txBody>
                  <a:tcPr>
                    <a:solidFill>
                      <a:srgbClr val="F8FAFC"/>
                    </a:solidFill>
                  </a:tcPr>
                </a:tc>
                <a:tc>
                  <a:txBody>
                    <a:bodyPr/>
                    <a:lstStyle/>
                    <a:p>
                      <a:pPr>
                        <a:defRPr sz="850" b="1">
                          <a:solidFill>
                            <a:srgbClr val="0F172A"/>
                          </a:solidFill>
                        </a:defRPr>
                      </a:pPr>
                      <a:r>
                        <a:t>22.53%</a:t>
                      </a:r>
                    </a:p>
                  </a:txBody>
                  <a:tcPr>
                    <a:solidFill>
                      <a:srgbClr val="F8FAFC"/>
                    </a:solidFill>
                  </a:tcPr>
                </a:tc>
                <a:tc>
                  <a:txBody>
                    <a:bodyPr/>
                    <a:lstStyle/>
                    <a:p>
                      <a:pPr>
                        <a:defRPr sz="850">
                          <a:solidFill>
                            <a:srgbClr val="0F172A"/>
                          </a:solidFill>
                        </a:defRPr>
                      </a:pPr>
                      <a:r>
                        <a:t>+6.69%</a:t>
                      </a:r>
                    </a:p>
                  </a:txBody>
                  <a:tcPr>
                    <a:solidFill>
                      <a:srgbClr val="F8FAFC"/>
                    </a:solidFill>
                  </a:tcPr>
                </a:tc>
                <a:tc>
                  <a:txBody>
                    <a:bodyPr/>
                    <a:lstStyle/>
                    <a:p>
                      <a:pPr>
                        <a:defRPr sz="850" b="1">
                          <a:solidFill>
                            <a:srgbClr val="0F172A"/>
                          </a:solidFill>
                        </a:defRPr>
                      </a:pPr>
                      <a:r>
                        <a:t>+2.76 pp</a:t>
                      </a:r>
                    </a:p>
                  </a:txBody>
                  <a:tcPr>
                    <a:solidFill>
                      <a:srgbClr val="F8FAFC"/>
                    </a:solidFill>
                  </a:tcPr>
                </a:tc>
                <a:tc>
                  <a:txBody>
                    <a:bodyPr/>
                    <a:lstStyle/>
                    <a:p>
                      <a:pPr>
                        <a:defRPr sz="850">
                          <a:solidFill>
                            <a:srgbClr val="0F172A"/>
                          </a:solidFill>
                        </a:defRPr>
                      </a:pPr>
                      <a:r>
                        <a:t>+14.0% deterioro acumulado</a:t>
                      </a:r>
                    </a:p>
                  </a:txBody>
                  <a:tcPr>
                    <a:solidFill>
                      <a:srgbClr val="F8FAFC"/>
                    </a:solidFill>
                  </a:tcPr>
                </a:tc>
              </a:tr>
            </a:tbl>
          </a:graphicData>
        </a:graphic>
      </p:graphicFrame>
      <p:sp>
        <p:nvSpPr>
          <p:cNvPr id="6" name="Rounded Rectangle 5"/>
          <p:cNvSpPr/>
          <p:nvPr/>
        </p:nvSpPr>
        <p:spPr>
          <a:xfrm>
            <a:off x="457200" y="3566160"/>
            <a:ext cx="6217920" cy="283464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a:lstStyle/>
          <a:p>
            <a:pPr algn="ctr">
              <a:defRPr sz="950" b="1">
                <a:solidFill>
                  <a:srgbClr val="2563EB"/>
                </a:solidFill>
              </a:defRPr>
            </a:pPr>
            <a:r>
              <a:t>CAUSA RAÍZ Y ASIMETRÍA DE COSTOS LOGÍSTICOS:</a:t>
            </a:r>
          </a:p>
          <a:p>
            <a:pPr>
              <a:defRPr sz="850">
                <a:solidFill>
                  <a:srgbClr val="0F172A"/>
                </a:solidFill>
              </a:defRPr>
            </a:pPr>
            <a:r>
              <a:t>1. Pérdida de Visibilidad a 96 horas:</a:t>
            </a:r>
            <a:br/>
            <a:r>
              <a:t>   • A 4 días, el sistema desconoce qué clientes postergarán o adelantarán sus compras fuera de plan.</a:t>
            </a:r>
            <a:br/>
            <a:r>
              <a:t>2. Formulación de Pérdida Asimétrica (Penalización 2.5x):</a:t>
            </a:r>
            <a:br/>
            <a:r>
              <a:t>   • En logística B2B, quedarse corto (subestimar) detona quiebres de servicio y fletes spot de pánico con sobrecosto:</a:t>
            </a:r>
            <a:br/>
            <a:r>
              <a:t>     Loss_asym = Σ [ 2.5 · max(0, y - y_pronóstico) + 1.0 · max(0, y_pronóstico - y) ] / Σ |y|</a:t>
            </a:r>
            <a:br/>
            <a:r>
              <a:t>   • Consecuencia: La Pérdida Asimétrica Real del baseline alcanza el 41.39%, duplicando el WAPE nominal de 20.8%.</a:t>
            </a:r>
            <a:br/>
            <a:r>
              <a:t>   • Conclusión Lead: No se puede optimizar el forecast con error cuadrático simétrico (RMSE/MSE).</a:t>
            </a:r>
          </a:p>
        </p:txBody>
      </p:sp>
      <p:pic>
        <p:nvPicPr>
          <p:cNvPr id="7" name="Picture 6" descr="degradacion_temporal_wape.png"/>
          <p:cNvPicPr>
            <a:picLocks noChangeAspect="1"/>
          </p:cNvPicPr>
          <p:nvPr/>
        </p:nvPicPr>
        <p:blipFill>
          <a:blip r:embed="rId2"/>
          <a:stretch>
            <a:fillRect/>
          </a:stretch>
        </p:blipFill>
        <p:spPr>
          <a:xfrm>
            <a:off x="6858000" y="1371600"/>
            <a:ext cx="4892040" cy="305752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4747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457200" tIns="54864"/>
          <a:lstStyle/>
          <a:p>
            <a:pPr algn="ctr">
              <a:defRPr sz="850" b="1">
                <a:solidFill>
                  <a:srgbClr val="38BDF8"/>
                </a:solidFill>
              </a:defRPr>
            </a:pPr>
            <a:r>
              <a:t>ESTRATEGIA ANALÍTICA &amp; OPTIMIZACIÓN DE SUPPLY CHAIN B2B  |  DESAFÍO TÉCNICO: DATA SCIENTIST LEAD</a:t>
            </a:r>
          </a:p>
        </p:txBody>
      </p:sp>
      <p:sp>
        <p:nvSpPr>
          <p:cNvPr id="3" name="Rectangle 2"/>
          <p:cNvSpPr/>
          <p:nvPr/>
        </p:nvSpPr>
        <p:spPr>
          <a:xfrm>
            <a:off x="0" y="6510528"/>
            <a:ext cx="12191695" cy="347472"/>
          </a:xfrm>
          <a:prstGeom prst="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457200" tIns="54864"/>
          <a:lstStyle/>
          <a:p>
            <a:pPr algn="ctr">
              <a:defRPr sz="850">
                <a:solidFill>
                  <a:srgbClr val="64748B"/>
                </a:solidFill>
              </a:defRPr>
            </a:pPr>
            <a:r>
              <a:t>Sebastián Felipe Urzúa Bórquez | Postulación Data Scientist Lead | Presentación Técnica Oficial          Diapositiva 4 de 10</a:t>
            </a:r>
          </a:p>
        </p:txBody>
      </p:sp>
      <p:sp>
        <p:nvSpPr>
          <p:cNvPr id="4" name="TextBox 3"/>
          <p:cNvSpPr txBox="1"/>
          <p:nvPr/>
        </p:nvSpPr>
        <p:spPr>
          <a:xfrm>
            <a:off x="457200" y="402336"/>
            <a:ext cx="11277295" cy="868680"/>
          </a:xfrm>
          <a:prstGeom prst="rect">
            <a:avLst/>
          </a:prstGeom>
          <a:noFill/>
        </p:spPr>
        <p:txBody>
          <a:bodyPr wrap="square" lIns="0" tIns="0" rIns="0" bIns="0">
            <a:spAutoFit/>
          </a:bodyPr>
          <a:lstStyle/>
          <a:p>
            <a:pPr>
              <a:defRPr sz="900" b="1">
                <a:solidFill>
                  <a:srgbClr val="2563EB"/>
                </a:solidFill>
              </a:defRPr>
            </a:pPr>
            <a:r>
              <a:t>TAREA 2: AUDITORÍA DEL PLAN DE ENTREGA DE CLIENTES (90 CLIENTES AUDITADOS, 739 COMPRAS)</a:t>
            </a:r>
          </a:p>
          <a:p>
            <a:pPr>
              <a:defRPr sz="1550" b="1">
                <a:solidFill>
                  <a:srgbClr val="0F172A"/>
                </a:solidFill>
              </a:defRPr>
            </a:pPr>
            <a:r>
              <a:t>El plan comercial presenta un sesgo de +10.6% en unidades y un 17.5% de compras fuera de plan, concentradas en CD_NORTE (24.4%).</a:t>
            </a:r>
          </a:p>
        </p:txBody>
      </p:sp>
      <p:sp>
        <p:nvSpPr>
          <p:cNvPr id="5" name="Rounded Rectangle 4"/>
          <p:cNvSpPr/>
          <p:nvPr/>
        </p:nvSpPr>
        <p:spPr>
          <a:xfrm>
            <a:off x="457200" y="1371600"/>
            <a:ext cx="3017520" cy="1051560"/>
          </a:xfrm>
          <a:prstGeom prst="roundRect">
            <a:avLst/>
          </a:prstGeom>
          <a:solidFill>
            <a:srgbClr val="FEF3C7"/>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defRPr sz="850" b="1">
                <a:solidFill>
                  <a:srgbClr val="0F172A"/>
                </a:solidFill>
              </a:defRPr>
            </a:pPr>
            <a:r>
              <a:t>BIAS EN VOLUMEN DEL PLAN</a:t>
            </a:r>
          </a:p>
          <a:p>
            <a:pPr algn="ctr">
              <a:defRPr sz="1800" b="1">
                <a:solidFill>
                  <a:srgbClr val="EF4444"/>
                </a:solidFill>
              </a:defRPr>
            </a:pPr>
            <a:r>
              <a:t>+10.62%</a:t>
            </a:r>
          </a:p>
          <a:p>
            <a:pPr algn="ctr">
              <a:defRPr sz="800">
                <a:solidFill>
                  <a:srgbClr val="64748B"/>
                </a:solidFill>
              </a:defRPr>
            </a:pPr>
            <a:r>
              <a:t>70,550 pactadas vs 78,930 reales (+8.3k déficit)</a:t>
            </a:r>
          </a:p>
        </p:txBody>
      </p:sp>
      <p:sp>
        <p:nvSpPr>
          <p:cNvPr id="6" name="Rounded Rectangle 5"/>
          <p:cNvSpPr/>
          <p:nvPr/>
        </p:nvSpPr>
        <p:spPr>
          <a:xfrm>
            <a:off x="3657600" y="1371600"/>
            <a:ext cx="3017520" cy="1051560"/>
          </a:xfrm>
          <a:prstGeom prst="roundRect">
            <a:avLst/>
          </a:prstGeom>
          <a:solidFill>
            <a:srgbClr val="FEF3C7"/>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defRPr sz="850" b="1">
                <a:solidFill>
                  <a:srgbClr val="0F172A"/>
                </a:solidFill>
              </a:defRPr>
            </a:pPr>
            <a:r>
              <a:t>COMPRAS FUERA DE PLAN</a:t>
            </a:r>
          </a:p>
          <a:p>
            <a:pPr algn="ctr">
              <a:defRPr sz="1800" b="1">
                <a:solidFill>
                  <a:srgbClr val="EF4444"/>
                </a:solidFill>
              </a:defRPr>
            </a:pPr>
            <a:r>
              <a:t>17.46%</a:t>
            </a:r>
          </a:p>
          <a:p>
            <a:pPr algn="ctr">
              <a:defRPr sz="800">
                <a:solidFill>
                  <a:srgbClr val="64748B"/>
                </a:solidFill>
              </a:defRPr>
            </a:pPr>
            <a:r>
              <a:t>129 de 739 compras en fechas no acordadas</a:t>
            </a:r>
          </a:p>
        </p:txBody>
      </p:sp>
      <p:graphicFrame>
        <p:nvGraphicFramePr>
          <p:cNvPr id="7" name="Table 6"/>
          <p:cNvGraphicFramePr>
            <a:graphicFrameLocks noGrp="1"/>
          </p:cNvGraphicFramePr>
          <p:nvPr/>
        </p:nvGraphicFramePr>
        <p:xfrm>
          <a:off x="457200" y="2560320"/>
          <a:ext cx="6217920" cy="2103120"/>
        </p:xfrm>
        <a:graphic>
          <a:graphicData uri="http://schemas.openxmlformats.org/drawingml/2006/table">
            <a:tbl>
              <a:tblPr firstRow="1" bandRow="1">
                <a:tableStyleId>{5C22544A-7EE6-4342-B048-85BDC9FD1C3A}</a:tableStyleId>
              </a:tblPr>
              <a:tblGrid>
                <a:gridCol w="1645920"/>
                <a:gridCol w="1371600"/>
                <a:gridCol w="1645920"/>
                <a:gridCol w="1554480"/>
              </a:tblGrid>
              <a:tr h="300445">
                <a:tc>
                  <a:txBody>
                    <a:bodyPr/>
                    <a:lstStyle/>
                    <a:p>
                      <a:pPr>
                        <a:defRPr sz="850" b="1">
                          <a:solidFill>
                            <a:srgbClr val="FFFFFF"/>
                          </a:solidFill>
                        </a:defRPr>
                      </a:pPr>
                      <a:r>
                        <a:t>Centro Logístico</a:t>
                      </a:r>
                    </a:p>
                  </a:txBody>
                  <a:tcPr>
                    <a:solidFill>
                      <a:srgbClr val="0F172A"/>
                    </a:solidFill>
                  </a:tcPr>
                </a:tc>
                <a:tc>
                  <a:txBody>
                    <a:bodyPr/>
                    <a:lstStyle/>
                    <a:p>
                      <a:pPr>
                        <a:defRPr sz="850" b="1">
                          <a:solidFill>
                            <a:srgbClr val="FFFFFF"/>
                          </a:solidFill>
                        </a:defRPr>
                      </a:pPr>
                      <a:r>
                        <a:t>% Fuera Plan</a:t>
                      </a:r>
                    </a:p>
                  </a:txBody>
                  <a:tcPr>
                    <a:solidFill>
                      <a:srgbClr val="0F172A"/>
                    </a:solidFill>
                  </a:tcPr>
                </a:tc>
                <a:tc>
                  <a:txBody>
                    <a:bodyPr/>
                    <a:lstStyle/>
                    <a:p>
                      <a:pPr>
                        <a:defRPr sz="850" b="1">
                          <a:solidFill>
                            <a:srgbClr val="FFFFFF"/>
                          </a:solidFill>
                        </a:defRPr>
                      </a:pPr>
                      <a:r>
                        <a:t>Día Planificado</a:t>
                      </a:r>
                    </a:p>
                  </a:txBody>
                  <a:tcPr>
                    <a:solidFill>
                      <a:srgbClr val="0F172A"/>
                    </a:solidFill>
                  </a:tcPr>
                </a:tc>
                <a:tc>
                  <a:txBody>
                    <a:bodyPr/>
                    <a:lstStyle/>
                    <a:p>
                      <a:pPr>
                        <a:defRPr sz="850" b="1">
                          <a:solidFill>
                            <a:srgbClr val="FFFFFF"/>
                          </a:solidFill>
                        </a:defRPr>
                      </a:pPr>
                      <a:r>
                        <a:t>% Fuera Plan</a:t>
                      </a:r>
                    </a:p>
                  </a:txBody>
                  <a:tcPr>
                    <a:solidFill>
                      <a:srgbClr val="0F172A"/>
                    </a:solidFill>
                  </a:tcPr>
                </a:tc>
              </a:tr>
              <a:tr h="300445">
                <a:tc>
                  <a:txBody>
                    <a:bodyPr/>
                    <a:lstStyle/>
                    <a:p>
                      <a:pPr>
                        <a:defRPr sz="800" b="1">
                          <a:solidFill>
                            <a:srgbClr val="0F172A"/>
                          </a:solidFill>
                        </a:defRPr>
                      </a:pPr>
                      <a:r>
                        <a:t>CD_NORTE (Mayor volumen)</a:t>
                      </a:r>
                    </a:p>
                  </a:txBody>
                  <a:tcPr>
                    <a:solidFill>
                      <a:srgbClr val="FFFFFF"/>
                    </a:solidFill>
                  </a:tcPr>
                </a:tc>
                <a:tc>
                  <a:txBody>
                    <a:bodyPr/>
                    <a:lstStyle/>
                    <a:p>
                      <a:pPr>
                        <a:defRPr sz="800" b="1">
                          <a:solidFill>
                            <a:srgbClr val="EF4444"/>
                          </a:solidFill>
                        </a:defRPr>
                      </a:pPr>
                      <a:r>
                        <a:t>24.39%</a:t>
                      </a:r>
                    </a:p>
                  </a:txBody>
                  <a:tcPr>
                    <a:solidFill>
                      <a:srgbClr val="FFFFFF"/>
                    </a:solidFill>
                  </a:tcPr>
                </a:tc>
                <a:tc>
                  <a:txBody>
                    <a:bodyPr/>
                    <a:lstStyle/>
                    <a:p>
                      <a:pPr>
                        <a:defRPr sz="800" b="1">
                          <a:solidFill>
                            <a:srgbClr val="0F172A"/>
                          </a:solidFill>
                        </a:defRPr>
                      </a:pPr>
                      <a:r>
                        <a:t>Miércoles (Máxima deserción)</a:t>
                      </a:r>
                    </a:p>
                  </a:txBody>
                  <a:tcPr>
                    <a:solidFill>
                      <a:srgbClr val="FFFFFF"/>
                    </a:solidFill>
                  </a:tcPr>
                </a:tc>
                <a:tc>
                  <a:txBody>
                    <a:bodyPr/>
                    <a:lstStyle/>
                    <a:p>
                      <a:pPr>
                        <a:defRPr sz="800" b="1">
                          <a:solidFill>
                            <a:srgbClr val="EF4444"/>
                          </a:solidFill>
                        </a:defRPr>
                      </a:pPr>
                      <a:r>
                        <a:t>22.86%</a:t>
                      </a:r>
                    </a:p>
                  </a:txBody>
                  <a:tcPr>
                    <a:solidFill>
                      <a:srgbClr val="FFFFFF"/>
                    </a:solidFill>
                  </a:tcPr>
                </a:tc>
              </a:tr>
              <a:tr h="300445">
                <a:tc>
                  <a:txBody>
                    <a:bodyPr/>
                    <a:lstStyle/>
                    <a:p>
                      <a:pPr>
                        <a:defRPr sz="800" b="1">
                          <a:solidFill>
                            <a:srgbClr val="0F172A"/>
                          </a:solidFill>
                        </a:defRPr>
                      </a:pPr>
                      <a:r>
                        <a:t>CD_SUR (Mayor déficit)</a:t>
                      </a:r>
                    </a:p>
                  </a:txBody>
                  <a:tcPr>
                    <a:solidFill>
                      <a:srgbClr val="F8FAFC"/>
                    </a:solidFill>
                  </a:tcPr>
                </a:tc>
                <a:tc>
                  <a:txBody>
                    <a:bodyPr/>
                    <a:lstStyle/>
                    <a:p>
                      <a:pPr>
                        <a:defRPr sz="800">
                          <a:solidFill>
                            <a:srgbClr val="0F172A"/>
                          </a:solidFill>
                        </a:defRPr>
                      </a:pPr>
                      <a:r>
                        <a:t>18.70%</a:t>
                      </a:r>
                    </a:p>
                  </a:txBody>
                  <a:tcPr>
                    <a:solidFill>
                      <a:srgbClr val="F8FAFC"/>
                    </a:solidFill>
                  </a:tcPr>
                </a:tc>
                <a:tc>
                  <a:txBody>
                    <a:bodyPr/>
                    <a:lstStyle/>
                    <a:p>
                      <a:pPr>
                        <a:defRPr sz="800" b="1">
                          <a:solidFill>
                            <a:srgbClr val="0F172A"/>
                          </a:solidFill>
                        </a:defRPr>
                      </a:pPr>
                      <a:r>
                        <a:t>Lunes (Volatilidad inicial)</a:t>
                      </a:r>
                    </a:p>
                  </a:txBody>
                  <a:tcPr>
                    <a:solidFill>
                      <a:srgbClr val="F8FAFC"/>
                    </a:solidFill>
                  </a:tcPr>
                </a:tc>
                <a:tc>
                  <a:txBody>
                    <a:bodyPr/>
                    <a:lstStyle/>
                    <a:p>
                      <a:pPr>
                        <a:defRPr sz="800" b="1">
                          <a:solidFill>
                            <a:srgbClr val="EF4444"/>
                          </a:solidFill>
                        </a:defRPr>
                      </a:pPr>
                      <a:r>
                        <a:t>22.09%</a:t>
                      </a:r>
                    </a:p>
                  </a:txBody>
                  <a:tcPr>
                    <a:solidFill>
                      <a:srgbClr val="F8FAFC"/>
                    </a:solidFill>
                  </a:tcPr>
                </a:tc>
              </a:tr>
              <a:tr h="300445">
                <a:tc>
                  <a:txBody>
                    <a:bodyPr/>
                    <a:lstStyle/>
                    <a:p>
                      <a:pPr>
                        <a:defRPr sz="800" b="1">
                          <a:solidFill>
                            <a:srgbClr val="0F172A"/>
                          </a:solidFill>
                        </a:defRPr>
                      </a:pPr>
                      <a:r>
                        <a:t>CD_PACIFICO</a:t>
                      </a:r>
                    </a:p>
                  </a:txBody>
                  <a:tcPr>
                    <a:solidFill>
                      <a:srgbClr val="FFFFFF"/>
                    </a:solidFill>
                  </a:tcPr>
                </a:tc>
                <a:tc>
                  <a:txBody>
                    <a:bodyPr/>
                    <a:lstStyle/>
                    <a:p>
                      <a:pPr>
                        <a:defRPr sz="800">
                          <a:solidFill>
                            <a:srgbClr val="0F172A"/>
                          </a:solidFill>
                        </a:defRPr>
                      </a:pPr>
                      <a:r>
                        <a:t>18.03%</a:t>
                      </a:r>
                    </a:p>
                  </a:txBody>
                  <a:tcPr>
                    <a:solidFill>
                      <a:srgbClr val="FFFFFF"/>
                    </a:solidFill>
                  </a:tcPr>
                </a:tc>
                <a:tc>
                  <a:txBody>
                    <a:bodyPr/>
                    <a:lstStyle/>
                    <a:p>
                      <a:pPr>
                        <a:defRPr sz="800" b="1">
                          <a:solidFill>
                            <a:srgbClr val="0F172A"/>
                          </a:solidFill>
                        </a:defRPr>
                      </a:pPr>
                      <a:r>
                        <a:t>Martes (Día pico)</a:t>
                      </a:r>
                    </a:p>
                  </a:txBody>
                  <a:tcPr>
                    <a:solidFill>
                      <a:srgbClr val="FFFFFF"/>
                    </a:solidFill>
                  </a:tcPr>
                </a:tc>
                <a:tc>
                  <a:txBody>
                    <a:bodyPr/>
                    <a:lstStyle/>
                    <a:p>
                      <a:pPr>
                        <a:defRPr sz="800">
                          <a:solidFill>
                            <a:srgbClr val="0F172A"/>
                          </a:solidFill>
                        </a:defRPr>
                      </a:pPr>
                      <a:r>
                        <a:t>17.16%</a:t>
                      </a:r>
                    </a:p>
                  </a:txBody>
                  <a:tcPr>
                    <a:solidFill>
                      <a:srgbClr val="FFFFFF"/>
                    </a:solidFill>
                  </a:tcPr>
                </a:tc>
              </a:tr>
              <a:tr h="300445">
                <a:tc>
                  <a:txBody>
                    <a:bodyPr/>
                    <a:lstStyle/>
                    <a:p>
                      <a:pPr>
                        <a:defRPr sz="800" b="1">
                          <a:solidFill>
                            <a:srgbClr val="0F172A"/>
                          </a:solidFill>
                        </a:defRPr>
                      </a:pPr>
                      <a:r>
                        <a:t>CD_ESTE</a:t>
                      </a:r>
                    </a:p>
                  </a:txBody>
                  <a:tcPr>
                    <a:solidFill>
                      <a:srgbClr val="F8FAFC"/>
                    </a:solidFill>
                  </a:tcPr>
                </a:tc>
                <a:tc>
                  <a:txBody>
                    <a:bodyPr/>
                    <a:lstStyle/>
                    <a:p>
                      <a:pPr>
                        <a:defRPr sz="800">
                          <a:solidFill>
                            <a:srgbClr val="0F172A"/>
                          </a:solidFill>
                        </a:defRPr>
                      </a:pPr>
                      <a:r>
                        <a:t>15.60%</a:t>
                      </a:r>
                    </a:p>
                  </a:txBody>
                  <a:tcPr>
                    <a:solidFill>
                      <a:srgbClr val="F8FAFC"/>
                    </a:solidFill>
                  </a:tcPr>
                </a:tc>
                <a:tc>
                  <a:txBody>
                    <a:bodyPr/>
                    <a:lstStyle/>
                    <a:p>
                      <a:pPr>
                        <a:defRPr sz="800" b="1">
                          <a:solidFill>
                            <a:srgbClr val="0F172A"/>
                          </a:solidFill>
                        </a:defRPr>
                      </a:pPr>
                      <a:r>
                        <a:t>Jueves (Día valle)</a:t>
                      </a:r>
                    </a:p>
                  </a:txBody>
                  <a:tcPr>
                    <a:solidFill>
                      <a:srgbClr val="F8FAFC"/>
                    </a:solidFill>
                  </a:tcPr>
                </a:tc>
                <a:tc>
                  <a:txBody>
                    <a:bodyPr/>
                    <a:lstStyle/>
                    <a:p>
                      <a:pPr>
                        <a:defRPr sz="800">
                          <a:solidFill>
                            <a:srgbClr val="0F172A"/>
                          </a:solidFill>
                        </a:defRPr>
                      </a:pPr>
                      <a:r>
                        <a:t>14.86%</a:t>
                      </a:r>
                    </a:p>
                  </a:txBody>
                  <a:tcPr>
                    <a:solidFill>
                      <a:srgbClr val="F8FAFC"/>
                    </a:solidFill>
                  </a:tcPr>
                </a:tc>
              </a:tr>
              <a:tr h="300445">
                <a:tc>
                  <a:txBody>
                    <a:bodyPr/>
                    <a:lstStyle/>
                    <a:p>
                      <a:pPr>
                        <a:defRPr sz="800" b="1">
                          <a:solidFill>
                            <a:srgbClr val="0F172A"/>
                          </a:solidFill>
                        </a:defRPr>
                      </a:pPr>
                      <a:r>
                        <a:t>CD_CENTRO</a:t>
                      </a:r>
                    </a:p>
                  </a:txBody>
                  <a:tcPr>
                    <a:solidFill>
                      <a:srgbClr val="FFFFFF"/>
                    </a:solidFill>
                  </a:tcPr>
                </a:tc>
                <a:tc>
                  <a:txBody>
                    <a:bodyPr/>
                    <a:lstStyle/>
                    <a:p>
                      <a:pPr>
                        <a:defRPr sz="800">
                          <a:solidFill>
                            <a:srgbClr val="0F172A"/>
                          </a:solidFill>
                        </a:defRPr>
                      </a:pPr>
                      <a:r>
                        <a:t>14.17%</a:t>
                      </a:r>
                    </a:p>
                  </a:txBody>
                  <a:tcPr>
                    <a:solidFill>
                      <a:srgbClr val="FFFFFF"/>
                    </a:solidFill>
                  </a:tcPr>
                </a:tc>
                <a:tc>
                  <a:txBody>
                    <a:bodyPr/>
                    <a:lstStyle/>
                    <a:p>
                      <a:pPr>
                        <a:defRPr sz="800" b="1">
                          <a:solidFill>
                            <a:srgbClr val="0F172A"/>
                          </a:solidFill>
                        </a:defRPr>
                      </a:pPr>
                      <a:r>
                        <a:t>Viernes (Mayor disciplina)</a:t>
                      </a:r>
                    </a:p>
                  </a:txBody>
                  <a:tcPr>
                    <a:solidFill>
                      <a:srgbClr val="FFFFFF"/>
                    </a:solidFill>
                  </a:tcPr>
                </a:tc>
                <a:tc>
                  <a:txBody>
                    <a:bodyPr/>
                    <a:lstStyle/>
                    <a:p>
                      <a:pPr>
                        <a:defRPr sz="800">
                          <a:solidFill>
                            <a:srgbClr val="0F172A"/>
                          </a:solidFill>
                        </a:defRPr>
                      </a:pPr>
                      <a:r>
                        <a:t>10.34%</a:t>
                      </a:r>
                    </a:p>
                  </a:txBody>
                  <a:tcPr>
                    <a:solidFill>
                      <a:srgbClr val="FFFFFF"/>
                    </a:solidFill>
                  </a:tcPr>
                </a:tc>
              </a:tr>
              <a:tr h="300450">
                <a:tc>
                  <a:txBody>
                    <a:bodyPr/>
                    <a:lstStyle/>
                    <a:p>
                      <a:pPr>
                        <a:defRPr sz="800" b="1">
                          <a:solidFill>
                            <a:srgbClr val="0F172A"/>
                          </a:solidFill>
                        </a:defRPr>
                      </a:pPr>
                      <a:r>
                        <a:t>CD_OESTE</a:t>
                      </a:r>
                    </a:p>
                  </a:txBody>
                  <a:tcPr>
                    <a:solidFill>
                      <a:srgbClr val="F8FAFC"/>
                    </a:solidFill>
                  </a:tcPr>
                </a:tc>
                <a:tc>
                  <a:txBody>
                    <a:bodyPr/>
                    <a:lstStyle/>
                    <a:p>
                      <a:pPr>
                        <a:defRPr sz="800">
                          <a:solidFill>
                            <a:srgbClr val="0F172A"/>
                          </a:solidFill>
                        </a:defRPr>
                      </a:pPr>
                      <a:r>
                        <a:t>13.93%</a:t>
                      </a:r>
                    </a:p>
                  </a:txBody>
                  <a:tcPr>
                    <a:solidFill>
                      <a:srgbClr val="F8FAFC"/>
                    </a:solidFill>
                  </a:tcPr>
                </a:tc>
                <a:tc>
                  <a:txBody>
                    <a:bodyPr/>
                    <a:lstStyle/>
                    <a:p>
                      <a:pPr>
                        <a:defRPr sz="800" b="1">
                          <a:solidFill>
                            <a:srgbClr val="0F172A"/>
                          </a:solidFill>
                        </a:defRPr>
                      </a:pPr>
                      <a:r>
                        <a:t>Total Red Logística</a:t>
                      </a:r>
                    </a:p>
                  </a:txBody>
                  <a:tcPr>
                    <a:solidFill>
                      <a:srgbClr val="F8FAFC"/>
                    </a:solidFill>
                  </a:tcPr>
                </a:tc>
                <a:tc>
                  <a:txBody>
                    <a:bodyPr/>
                    <a:lstStyle/>
                    <a:p>
                      <a:pPr>
                        <a:defRPr sz="800">
                          <a:solidFill>
                            <a:srgbClr val="0F172A"/>
                          </a:solidFill>
                        </a:defRPr>
                      </a:pPr>
                      <a:r>
                        <a:t>17.46%</a:t>
                      </a:r>
                    </a:p>
                  </a:txBody>
                  <a:tcPr>
                    <a:solidFill>
                      <a:srgbClr val="F8FAFC"/>
                    </a:solidFill>
                  </a:tcPr>
                </a:tc>
              </a:tr>
            </a:tbl>
          </a:graphicData>
        </a:graphic>
      </p:graphicFrame>
      <p:sp>
        <p:nvSpPr>
          <p:cNvPr id="8" name="Rounded Rectangle 7"/>
          <p:cNvSpPr/>
          <p:nvPr/>
        </p:nvSpPr>
        <p:spPr>
          <a:xfrm>
            <a:off x="457200" y="4800600"/>
            <a:ext cx="6217920" cy="160020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a:lstStyle/>
          <a:p>
            <a:pPr algn="ctr">
              <a:defRPr sz="900" b="1">
                <a:solidFill>
                  <a:srgbClr val="2563EB"/>
                </a:solidFill>
              </a:defRPr>
            </a:pPr>
            <a:r>
              <a:t>RESPUESTAS EXPLÍCITAS A PREGUNTAS 1 Y 2 DEL PDF:</a:t>
            </a:r>
          </a:p>
          <a:p>
            <a:pPr>
              <a:defRPr sz="850">
                <a:solidFill>
                  <a:srgbClr val="0F172A"/>
                </a:solidFill>
              </a:defRPr>
            </a:pPr>
            <a:r>
              <a:t>• Bias en Fechas (+0.44 días de retraso promedio): Hay una tendencia neta a postergar la compra.</a:t>
            </a:r>
            <a:br/>
            <a:r>
              <a:t>• Concentración Crítica en CD_NORTE: Combina el 35% del volumen con la peor tasa de indisciplina (1 de cada 4 pedidos fuera de fecha), transformándose en el principal foco de congestión de andenes.</a:t>
            </a:r>
          </a:p>
        </p:txBody>
      </p:sp>
      <p:pic>
        <p:nvPicPr>
          <p:cNvPr id="9" name="Picture 8" descr="compras_fuera_plan_por_dia_semana.png"/>
          <p:cNvPicPr>
            <a:picLocks noChangeAspect="1"/>
          </p:cNvPicPr>
          <p:nvPr/>
        </p:nvPicPr>
        <p:blipFill>
          <a:blip r:embed="rId2"/>
          <a:stretch>
            <a:fillRect/>
          </a:stretch>
        </p:blipFill>
        <p:spPr>
          <a:xfrm>
            <a:off x="6858000" y="1371600"/>
            <a:ext cx="4892040" cy="2717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4747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457200" tIns="54864"/>
          <a:lstStyle/>
          <a:p>
            <a:pPr algn="ctr">
              <a:defRPr sz="850" b="1">
                <a:solidFill>
                  <a:srgbClr val="38BDF8"/>
                </a:solidFill>
              </a:defRPr>
            </a:pPr>
            <a:r>
              <a:t>ESTRATEGIA ANALÍTICA &amp; OPTIMIZACIÓN DE SUPPLY CHAIN B2B  |  DESAFÍO TÉCNICO: DATA SCIENTIST LEAD</a:t>
            </a:r>
          </a:p>
        </p:txBody>
      </p:sp>
      <p:sp>
        <p:nvSpPr>
          <p:cNvPr id="3" name="Rectangle 2"/>
          <p:cNvSpPr/>
          <p:nvPr/>
        </p:nvSpPr>
        <p:spPr>
          <a:xfrm>
            <a:off x="0" y="6510528"/>
            <a:ext cx="12191695" cy="347472"/>
          </a:xfrm>
          <a:prstGeom prst="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457200" tIns="54864"/>
          <a:lstStyle/>
          <a:p>
            <a:pPr algn="ctr">
              <a:defRPr sz="850">
                <a:solidFill>
                  <a:srgbClr val="64748B"/>
                </a:solidFill>
              </a:defRPr>
            </a:pPr>
            <a:r>
              <a:t>Sebastián Felipe Urzúa Bórquez | Postulación Data Scientist Lead | Presentación Técnica Oficial          Diapositiva 5 de 10</a:t>
            </a:r>
          </a:p>
        </p:txBody>
      </p:sp>
      <p:sp>
        <p:nvSpPr>
          <p:cNvPr id="4" name="TextBox 3"/>
          <p:cNvSpPr txBox="1"/>
          <p:nvPr/>
        </p:nvSpPr>
        <p:spPr>
          <a:xfrm>
            <a:off x="457200" y="402336"/>
            <a:ext cx="11277295" cy="868680"/>
          </a:xfrm>
          <a:prstGeom prst="rect">
            <a:avLst/>
          </a:prstGeom>
          <a:noFill/>
        </p:spPr>
        <p:txBody>
          <a:bodyPr wrap="square" lIns="0" tIns="0" rIns="0" bIns="0">
            <a:spAutoFit/>
          </a:bodyPr>
          <a:lstStyle/>
          <a:p>
            <a:pPr>
              <a:defRPr sz="900" b="1">
                <a:solidFill>
                  <a:srgbClr val="2563EB"/>
                </a:solidFill>
              </a:defRPr>
            </a:pPr>
            <a:r>
              <a:t>TAREA 2: MÉTRICAS COMPLEMENTARIAS Y ESTRATEGIA DE APLANAMIENTO DE CURVA (PREGUNTAS 3 Y 4)</a:t>
            </a:r>
          </a:p>
          <a:p>
            <a:pPr>
              <a:defRPr sz="1550" b="1">
                <a:solidFill>
                  <a:srgbClr val="0F172A"/>
                </a:solidFill>
              </a:defRPr>
            </a:pPr>
            <a:r>
              <a:t>Con un Late-to-Early Ratio de 3.45x y 46% de carga los martes, proponemos 'Dynamic Delivery Slotting' para abatir el PAR de 2.10x a &lt;1.35x.</a:t>
            </a:r>
          </a:p>
        </p:txBody>
      </p:sp>
      <p:sp>
        <p:nvSpPr>
          <p:cNvPr id="5" name="Rounded Rectangle 4"/>
          <p:cNvSpPr/>
          <p:nvPr/>
        </p:nvSpPr>
        <p:spPr>
          <a:xfrm>
            <a:off x="457200" y="1371600"/>
            <a:ext cx="6217920" cy="1005840"/>
          </a:xfrm>
          <a:prstGeom prst="roundRect">
            <a:avLst/>
          </a:prstGeom>
          <a:solidFill>
            <a:srgbClr val="FEF3C7"/>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defRPr sz="850" b="1">
                <a:solidFill>
                  <a:srgbClr val="0F172A"/>
                </a:solidFill>
              </a:defRPr>
            </a:pPr>
            <a:r>
              <a:t>MÉTRICA 1: LATE-TO-EARLY RATIO = 3.45X</a:t>
            </a:r>
          </a:p>
          <a:p>
            <a:pPr algn="ctr">
              <a:defRPr sz="1800" b="1">
                <a:solidFill>
                  <a:srgbClr val="EF4444"/>
                </a:solidFill>
              </a:defRPr>
            </a:pPr>
            <a:r>
              <a:t>100 Retrasos vs 29 Adelantos (3.45 a 1)</a:t>
            </a:r>
          </a:p>
          <a:p>
            <a:pPr algn="ctr">
              <a:defRPr sz="800">
                <a:solidFill>
                  <a:srgbClr val="64748B"/>
                </a:solidFill>
              </a:defRPr>
            </a:pPr>
            <a:r>
              <a:t>Demuestra que la indisciplina no es aleatoria: es postergación deliberada de inventario B2B</a:t>
            </a:r>
          </a:p>
        </p:txBody>
      </p:sp>
      <p:sp>
        <p:nvSpPr>
          <p:cNvPr id="6" name="Rounded Rectangle 5"/>
          <p:cNvSpPr/>
          <p:nvPr/>
        </p:nvSpPr>
        <p:spPr>
          <a:xfrm>
            <a:off x="457200" y="2468880"/>
            <a:ext cx="6217920" cy="1005840"/>
          </a:xfrm>
          <a:prstGeom prst="roundRect">
            <a:avLst/>
          </a:prstGeom>
          <a:solidFill>
            <a:srgbClr val="FEF3C7"/>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defRPr sz="850" b="1">
                <a:solidFill>
                  <a:srgbClr val="0F172A"/>
                </a:solidFill>
              </a:defRPr>
            </a:pPr>
            <a:r>
              <a:t>MÉTRICA 2: PEAK-TO-AVERAGE RATIO (PAR) = 2.10X</a:t>
            </a:r>
          </a:p>
          <a:p>
            <a:pPr algn="ctr">
              <a:defRPr sz="1800" b="1">
                <a:solidFill>
                  <a:srgbClr val="EF4444"/>
                </a:solidFill>
              </a:defRPr>
            </a:pPr>
            <a:r>
              <a:t>36,468 Unidades los Martes (46.2% de la semana)</a:t>
            </a:r>
          </a:p>
          <a:p>
            <a:pPr algn="ctr">
              <a:defRPr sz="800">
                <a:solidFill>
                  <a:srgbClr val="64748B"/>
                </a:solidFill>
              </a:defRPr>
            </a:pPr>
            <a:r>
              <a:t>Duplica la media diaria semanal, colapsando la capacidad de carga de camiones</a:t>
            </a:r>
          </a:p>
        </p:txBody>
      </p:sp>
      <p:sp>
        <p:nvSpPr>
          <p:cNvPr id="7" name="Rounded Rectangle 6"/>
          <p:cNvSpPr/>
          <p:nvPr/>
        </p:nvSpPr>
        <p:spPr>
          <a:xfrm>
            <a:off x="457200" y="3566160"/>
            <a:ext cx="6217920" cy="1005840"/>
          </a:xfrm>
          <a:prstGeom prst="roundRect">
            <a:avLst/>
          </a:prstGeom>
          <a:solidFill>
            <a:srgbClr val="FEF3C7"/>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defRPr sz="850" b="1">
                <a:solidFill>
                  <a:srgbClr val="0F172A"/>
                </a:solidFill>
              </a:defRPr>
            </a:pPr>
            <a:r>
              <a:t>MÉTRICA 3: TASA DE SATURACIÓN DE FLOTA (CD_NORTE)</a:t>
            </a:r>
          </a:p>
          <a:p>
            <a:pPr algn="ctr">
              <a:defRPr sz="1800" b="1">
                <a:solidFill>
                  <a:srgbClr val="EF4444"/>
                </a:solidFill>
              </a:defRPr>
            </a:pPr>
            <a:r>
              <a:t>10% de los Días &gt; 100% de Capacidad (Pico 110.3%)</a:t>
            </a:r>
          </a:p>
          <a:p>
            <a:pPr algn="ctr">
              <a:defRPr sz="800">
                <a:solidFill>
                  <a:srgbClr val="64748B"/>
                </a:solidFill>
              </a:defRPr>
            </a:pPr>
            <a:r>
              <a:t>974 unidades de desborde que exigen fletes de emergencia spot. Jueves y viernes al 70%</a:t>
            </a:r>
          </a:p>
        </p:txBody>
      </p:sp>
      <p:sp>
        <p:nvSpPr>
          <p:cNvPr id="8" name="Rounded Rectangle 7"/>
          <p:cNvSpPr/>
          <p:nvPr/>
        </p:nvSpPr>
        <p:spPr>
          <a:xfrm>
            <a:off x="457200" y="4663440"/>
            <a:ext cx="6217920" cy="1737360"/>
          </a:xfrm>
          <a:prstGeom prst="roundRect">
            <a:avLst/>
          </a:prstGeom>
          <a:solidFill>
            <a:srgbClr val="EFF6FF"/>
          </a:solidFill>
          <a:ln>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a:lstStyle/>
          <a:p>
            <a:pPr algn="ctr">
              <a:defRPr sz="950" b="1">
                <a:solidFill>
                  <a:srgbClr val="2563EB"/>
                </a:solidFill>
              </a:defRPr>
            </a:pPr>
            <a:r>
              <a:t>ESTRATEGIA PROPUESTA: DYNAMIC DELIVERY SLOTTING (PREGUNTA 4)</a:t>
            </a:r>
          </a:p>
          <a:p>
            <a:pPr>
              <a:defRPr sz="850">
                <a:solidFill>
                  <a:srgbClr val="0F172A"/>
                </a:solidFill>
              </a:defRPr>
            </a:pPr>
            <a:r>
              <a:t>• Zona Verde (Ocupación ≤ 60%, Jue/Vie): Bonificación de 2.0% a 3.0% en factura por entrega programada fija.</a:t>
            </a:r>
            <a:br/>
            <a:r>
              <a:t>• Zona Amarilla (60% &lt; Ocupación ≤ 85%, Lun/Mié): Tarifa logística estándar.</a:t>
            </a:r>
            <a:br/>
            <a:r>
              <a:t>• Zona Roja (Ocupación &gt; 85%, Martes): Cierre de slots preferentes o recargo disuasivo (+3%).</a:t>
            </a:r>
            <a:br/>
            <a:r>
              <a:t>• Metas de Éxito: PAR de 2.10x a &lt;1.35x | Días valle &gt; 40% cuota | 0% saturación en CD_NORTE.</a:t>
            </a:r>
          </a:p>
        </p:txBody>
      </p:sp>
      <p:pic>
        <p:nvPicPr>
          <p:cNvPr id="9" name="Picture 8" descr="saturacion_capacidad_cd.png"/>
          <p:cNvPicPr>
            <a:picLocks noChangeAspect="1"/>
          </p:cNvPicPr>
          <p:nvPr/>
        </p:nvPicPr>
        <p:blipFill>
          <a:blip r:embed="rId2"/>
          <a:stretch>
            <a:fillRect/>
          </a:stretch>
        </p:blipFill>
        <p:spPr>
          <a:xfrm>
            <a:off x="6858000" y="1371600"/>
            <a:ext cx="4892040" cy="2717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4747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457200" tIns="54864"/>
          <a:lstStyle/>
          <a:p>
            <a:pPr algn="ctr">
              <a:defRPr sz="850" b="1">
                <a:solidFill>
                  <a:srgbClr val="38BDF8"/>
                </a:solidFill>
              </a:defRPr>
            </a:pPr>
            <a:r>
              <a:t>ESTRATEGIA ANALÍTICA &amp; OPTIMIZACIÓN DE SUPPLY CHAIN B2B  |  DESAFÍO TÉCNICO: DATA SCIENTIST LEAD</a:t>
            </a:r>
          </a:p>
        </p:txBody>
      </p:sp>
      <p:sp>
        <p:nvSpPr>
          <p:cNvPr id="3" name="Rectangle 2"/>
          <p:cNvSpPr/>
          <p:nvPr/>
        </p:nvSpPr>
        <p:spPr>
          <a:xfrm>
            <a:off x="0" y="6510528"/>
            <a:ext cx="12191695" cy="347472"/>
          </a:xfrm>
          <a:prstGeom prst="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457200" tIns="54864"/>
          <a:lstStyle/>
          <a:p>
            <a:pPr algn="ctr">
              <a:defRPr sz="850">
                <a:solidFill>
                  <a:srgbClr val="64748B"/>
                </a:solidFill>
              </a:defRPr>
            </a:pPr>
            <a:r>
              <a:t>Sebastián Felipe Urzúa Bórquez | Postulación Data Scientist Lead | Presentación Técnica Oficial          Diapositiva 6 de 10</a:t>
            </a:r>
          </a:p>
        </p:txBody>
      </p:sp>
      <p:sp>
        <p:nvSpPr>
          <p:cNvPr id="4" name="TextBox 3"/>
          <p:cNvSpPr txBox="1"/>
          <p:nvPr/>
        </p:nvSpPr>
        <p:spPr>
          <a:xfrm>
            <a:off x="457200" y="402336"/>
            <a:ext cx="11277295" cy="868680"/>
          </a:xfrm>
          <a:prstGeom prst="rect">
            <a:avLst/>
          </a:prstGeom>
          <a:noFill/>
        </p:spPr>
        <p:txBody>
          <a:bodyPr wrap="square" lIns="0" tIns="0" rIns="0" bIns="0">
            <a:spAutoFit/>
          </a:bodyPr>
          <a:lstStyle/>
          <a:p>
            <a:pPr>
              <a:defRPr sz="900" b="1">
                <a:solidFill>
                  <a:srgbClr val="2563EB"/>
                </a:solidFill>
              </a:defRPr>
            </a:pPr>
            <a:r>
              <a:t>TAREA 3: FORMULACIÓN ANALÍTICA, INGENIERÍA DE CARACTERÍSTICAS Y CRITERIO DE SELECCIÓN</a:t>
            </a:r>
          </a:p>
          <a:p>
            <a:pPr>
              <a:defRPr sz="1550" b="1">
                <a:solidFill>
                  <a:srgbClr val="0F172A"/>
                </a:solidFill>
              </a:defRPr>
            </a:pPr>
            <a:r>
              <a:t>El Corrector Residual Ridge L2 supera a modelos de árboles en 'Small Data', garantizando estabilidad matricial, interpretabilidad y cero fuga de datos.</a:t>
            </a:r>
          </a:p>
        </p:txBody>
      </p:sp>
      <p:sp>
        <p:nvSpPr>
          <p:cNvPr id="5" name="Rounded Rectangle 4"/>
          <p:cNvSpPr/>
          <p:nvPr/>
        </p:nvSpPr>
        <p:spPr>
          <a:xfrm>
            <a:off x="457200" y="1371600"/>
            <a:ext cx="6217920" cy="502920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defRPr sz="950" b="1">
                <a:solidFill>
                  <a:srgbClr val="2563EB"/>
                </a:solidFill>
              </a:defRPr>
            </a:pPr>
            <a:r>
              <a:t>1. FORMULACIÓN RESIDUAL NO NEGATIVA (BARRERA LÓGICA):</a:t>
            </a:r>
          </a:p>
          <a:p>
            <a:pPr>
              <a:defRPr sz="850">
                <a:solidFill>
                  <a:srgbClr val="0F172A"/>
                </a:solidFill>
              </a:defRPr>
            </a:pPr>
            <a:r>
              <a:t>• El modelo complementario no predice la demanda desde cero; predice el error residual aditivo:</a:t>
            </a:r>
            <a:br/>
            <a:r>
              <a:t>  y_corregido = max(0, y_base + epsilon_residual), donde epsilon_residual = Ridge_L2(X, α=10.0)</a:t>
            </a:r>
            <a:br/>
            <a:r>
              <a:t>• El truncamiento no negativo garantiza cero órdenes físicas negativas en producción.</a:t>
            </a:r>
          </a:p>
          <a:p>
            <a:pPr>
              <a:defRPr sz="950" b="1">
                <a:solidFill>
                  <a:srgbClr val="2563EB"/>
                </a:solidFill>
              </a:defRPr>
            </a:pPr>
            <a:r>
              <a:t>2. INGENIERÍA DE CARACTERÍSTICAS Y PROTOCOLO ZERO-LEAKAGE:</a:t>
            </a:r>
          </a:p>
          <a:p>
            <a:pPr>
              <a:defRPr sz="850">
                <a:solidFill>
                  <a:srgbClr val="0F172A"/>
                </a:solidFill>
              </a:defRPr>
            </a:pPr>
            <a:r>
              <a:t>• Dummies de Calendario: es_martes, es_lunes (estacionalidad intra-semanal probada en Tarea 2).</a:t>
            </a:r>
            <a:br/>
            <a:r>
              <a:t>• Interacciones Territoriales: CD_NORTE_x_martes (+139 unid.), CD_SUR_x_martes (+212 unid.).</a:t>
            </a:r>
            <a:br/>
            <a:r>
              <a:t>• Rolling Features: rolling_mean_7d, rolling_mean_14d, rolling_mean_21d, rolling_std y ratio_base_to_mean7.</a:t>
            </a:r>
            <a:br/>
            <a:r>
              <a:t>• Blindaje Zero-Leakage: Despachos cerrados estrictamente antes de 06:00 AM (τ ≤ t-1).</a:t>
            </a:r>
          </a:p>
          <a:p>
            <a:pPr>
              <a:defRPr sz="950" b="1">
                <a:solidFill>
                  <a:srgbClr val="2563EB"/>
                </a:solidFill>
              </a:defRPr>
            </a:pPr>
            <a:r>
              <a:t>3. CRITERIO DE SELECCIÓN: ¿POR QUÉ RIDGE L2 SOBRE ÁRBOLES (LIGHTGBM/XGBOOST)?:</a:t>
            </a:r>
          </a:p>
          <a:p>
            <a:pPr>
              <a:defRPr sz="850">
                <a:solidFill>
                  <a:srgbClr val="0F172A"/>
                </a:solidFill>
              </a:defRPr>
            </a:pPr>
            <a:r>
              <a:t>• Régimen 'Small Data' (612 a 1,332 filas en ventanas rodantes): Árboles sobreajustan y generan funciones escalonadas.</a:t>
            </a:r>
            <a:br/>
            <a:r>
              <a:t>• Naturaleza Aditiva del Sesgo: Offsets territoriales continuos capturados idealmente por Ridge (α=10.0).</a:t>
            </a:r>
            <a:br/>
            <a:r>
              <a:t>• Inferencia &lt; 1 ms vs 450 ms de GBDT: Solución analítica matricial cerrada y coeficientes β 100% auditables.</a:t>
            </a:r>
          </a:p>
        </p:txBody>
      </p:sp>
      <p:pic>
        <p:nvPicPr>
          <p:cNvPr id="6" name="Picture 5" descr="importancia_caracteristicas_modelo.png"/>
          <p:cNvPicPr>
            <a:picLocks noChangeAspect="1"/>
          </p:cNvPicPr>
          <p:nvPr/>
        </p:nvPicPr>
        <p:blipFill>
          <a:blip r:embed="rId2"/>
          <a:stretch>
            <a:fillRect/>
          </a:stretch>
        </p:blipFill>
        <p:spPr>
          <a:xfrm>
            <a:off x="6858000" y="1371600"/>
            <a:ext cx="4892040" cy="32613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4747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457200" tIns="54864"/>
          <a:lstStyle/>
          <a:p>
            <a:pPr algn="ctr">
              <a:defRPr sz="850" b="1">
                <a:solidFill>
                  <a:srgbClr val="38BDF8"/>
                </a:solidFill>
              </a:defRPr>
            </a:pPr>
            <a:r>
              <a:t>ESTRATEGIA ANALÍTICA &amp; OPTIMIZACIÓN DE SUPPLY CHAIN B2B  |  DESAFÍO TÉCNICO: DATA SCIENTIST LEAD</a:t>
            </a:r>
          </a:p>
        </p:txBody>
      </p:sp>
      <p:sp>
        <p:nvSpPr>
          <p:cNvPr id="3" name="Rectangle 2"/>
          <p:cNvSpPr/>
          <p:nvPr/>
        </p:nvSpPr>
        <p:spPr>
          <a:xfrm>
            <a:off x="0" y="6510528"/>
            <a:ext cx="12191695" cy="347472"/>
          </a:xfrm>
          <a:prstGeom prst="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457200" tIns="54864"/>
          <a:lstStyle/>
          <a:p>
            <a:pPr algn="ctr">
              <a:defRPr sz="850">
                <a:solidFill>
                  <a:srgbClr val="64748B"/>
                </a:solidFill>
              </a:defRPr>
            </a:pPr>
            <a:r>
              <a:t>Sebastián Felipe Urzúa Bórquez | Postulación Data Scientist Lead | Presentación Técnica Oficial          Diapositiva 7 de 10</a:t>
            </a:r>
          </a:p>
        </p:txBody>
      </p:sp>
      <p:sp>
        <p:nvSpPr>
          <p:cNvPr id="4" name="TextBox 3"/>
          <p:cNvSpPr txBox="1"/>
          <p:nvPr/>
        </p:nvSpPr>
        <p:spPr>
          <a:xfrm>
            <a:off x="457200" y="402336"/>
            <a:ext cx="11277295" cy="868680"/>
          </a:xfrm>
          <a:prstGeom prst="rect">
            <a:avLst/>
          </a:prstGeom>
          <a:noFill/>
        </p:spPr>
        <p:txBody>
          <a:bodyPr wrap="square" lIns="0" tIns="0" rIns="0" bIns="0">
            <a:spAutoFit/>
          </a:bodyPr>
          <a:lstStyle/>
          <a:p>
            <a:pPr>
              <a:defRPr sz="900" b="1">
                <a:solidFill>
                  <a:srgbClr val="2563EB"/>
                </a:solidFill>
              </a:defRPr>
            </a:pPr>
            <a:r>
              <a:t>TAREA 3: VALIDACIÓN CRUZADA CON ORIGEN RODANTE (ROLLING-ORIGIN BACKTEST, 708 PRONÓSTICOS EVALUADOS)</a:t>
            </a:r>
          </a:p>
          <a:p>
            <a:pPr>
              <a:defRPr sz="1550" b="1">
                <a:solidFill>
                  <a:srgbClr val="0F172A"/>
                </a:solidFill>
              </a:defRPr>
            </a:pPr>
            <a:r>
              <a:t>El rolling backtest en 31 días secuenciales demuestra que el modelo reduce el WAPE a 7.28% y neutraliza el sesgo a +0.69%.</a:t>
            </a:r>
          </a:p>
        </p:txBody>
      </p:sp>
      <p:graphicFrame>
        <p:nvGraphicFramePr>
          <p:cNvPr id="5" name="Table 4"/>
          <p:cNvGraphicFramePr>
            <a:graphicFrameLocks noGrp="1"/>
          </p:cNvGraphicFramePr>
          <p:nvPr/>
        </p:nvGraphicFramePr>
        <p:xfrm>
          <a:off x="457200" y="1371600"/>
          <a:ext cx="6217920" cy="3291840"/>
        </p:xfrm>
        <a:graphic>
          <a:graphicData uri="http://schemas.openxmlformats.org/drawingml/2006/table">
            <a:tbl>
              <a:tblPr firstRow="1" bandRow="1">
                <a:tableStyleId>{5C22544A-7EE6-4342-B048-85BDC9FD1C3A}</a:tableStyleId>
              </a:tblPr>
              <a:tblGrid>
                <a:gridCol w="1005840"/>
                <a:gridCol w="822960"/>
                <a:gridCol w="822960"/>
                <a:gridCol w="1005840"/>
                <a:gridCol w="822960"/>
                <a:gridCol w="822960"/>
                <a:gridCol w="914400"/>
              </a:tblGrid>
              <a:tr h="411480">
                <a:tc>
                  <a:txBody>
                    <a:bodyPr/>
                    <a:lstStyle/>
                    <a:p>
                      <a:pPr>
                        <a:defRPr sz="800" b="1">
                          <a:solidFill>
                            <a:srgbClr val="FFFFFF"/>
                          </a:solidFill>
                        </a:defRPr>
                      </a:pPr>
                      <a:r>
                        <a:t>Centro</a:t>
                      </a:r>
                    </a:p>
                  </a:txBody>
                  <a:tcPr>
                    <a:solidFill>
                      <a:srgbClr val="0F172A"/>
                    </a:solidFill>
                  </a:tcPr>
                </a:tc>
                <a:tc>
                  <a:txBody>
                    <a:bodyPr/>
                    <a:lstStyle/>
                    <a:p>
                      <a:pPr>
                        <a:defRPr sz="800" b="1">
                          <a:solidFill>
                            <a:srgbClr val="FFFFFF"/>
                          </a:solidFill>
                        </a:defRPr>
                      </a:pPr>
                      <a:r>
                        <a:t>WAPE Base</a:t>
                      </a:r>
                    </a:p>
                  </a:txBody>
                  <a:tcPr>
                    <a:solidFill>
                      <a:srgbClr val="0F172A"/>
                    </a:solidFill>
                  </a:tcPr>
                </a:tc>
                <a:tc>
                  <a:txBody>
                    <a:bodyPr/>
                    <a:lstStyle/>
                    <a:p>
                      <a:pPr>
                        <a:defRPr sz="800" b="1">
                          <a:solidFill>
                            <a:srgbClr val="FFFFFF"/>
                          </a:solidFill>
                        </a:defRPr>
                      </a:pPr>
                      <a:r>
                        <a:t>WAPE Mod</a:t>
                      </a:r>
                    </a:p>
                  </a:txBody>
                  <a:tcPr>
                    <a:solidFill>
                      <a:srgbClr val="0F172A"/>
                    </a:solidFill>
                  </a:tcPr>
                </a:tc>
                <a:tc>
                  <a:txBody>
                    <a:bodyPr/>
                    <a:lstStyle/>
                    <a:p>
                      <a:pPr>
                        <a:defRPr sz="800" b="1">
                          <a:solidFill>
                            <a:srgbClr val="FFFFFF"/>
                          </a:solidFill>
                        </a:defRPr>
                      </a:pPr>
                      <a:r>
                        <a:t>Delta WAPE</a:t>
                      </a:r>
                    </a:p>
                  </a:txBody>
                  <a:tcPr>
                    <a:solidFill>
                      <a:srgbClr val="0F172A"/>
                    </a:solidFill>
                  </a:tcPr>
                </a:tc>
                <a:tc>
                  <a:txBody>
                    <a:bodyPr/>
                    <a:lstStyle/>
                    <a:p>
                      <a:pPr>
                        <a:defRPr sz="800" b="1">
                          <a:solidFill>
                            <a:srgbClr val="FFFFFF"/>
                          </a:solidFill>
                        </a:defRPr>
                      </a:pPr>
                      <a:r>
                        <a:t>Bias Base</a:t>
                      </a:r>
                    </a:p>
                  </a:txBody>
                  <a:tcPr>
                    <a:solidFill>
                      <a:srgbClr val="0F172A"/>
                    </a:solidFill>
                  </a:tcPr>
                </a:tc>
                <a:tc>
                  <a:txBody>
                    <a:bodyPr/>
                    <a:lstStyle/>
                    <a:p>
                      <a:pPr>
                        <a:defRPr sz="800" b="1">
                          <a:solidFill>
                            <a:srgbClr val="FFFFFF"/>
                          </a:solidFill>
                        </a:defRPr>
                      </a:pPr>
                      <a:r>
                        <a:t>Bias Mod</a:t>
                      </a:r>
                    </a:p>
                  </a:txBody>
                  <a:tcPr>
                    <a:solidFill>
                      <a:srgbClr val="0F172A"/>
                    </a:solidFill>
                  </a:tcPr>
                </a:tc>
                <a:tc>
                  <a:txBody>
                    <a:bodyPr/>
                    <a:lstStyle/>
                    <a:p>
                      <a:pPr>
                        <a:defRPr sz="800" b="1">
                          <a:solidFill>
                            <a:srgbClr val="FFFFFF"/>
                          </a:solidFill>
                        </a:defRPr>
                      </a:pPr>
                      <a:r>
                        <a:t>Estado</a:t>
                      </a:r>
                    </a:p>
                  </a:txBody>
                  <a:tcPr>
                    <a:solidFill>
                      <a:srgbClr val="0F172A"/>
                    </a:solidFill>
                  </a:tcPr>
                </a:tc>
              </a:tr>
              <a:tr h="411480">
                <a:tc>
                  <a:txBody>
                    <a:bodyPr/>
                    <a:lstStyle/>
                    <a:p>
                      <a:pPr>
                        <a:defRPr sz="800" b="1">
                          <a:solidFill>
                            <a:srgbClr val="0F172A"/>
                          </a:solidFill>
                        </a:defRPr>
                      </a:pPr>
                      <a:r>
                        <a:t>GLOBAL</a:t>
                      </a:r>
                    </a:p>
                  </a:txBody>
                  <a:tcPr>
                    <a:solidFill>
                      <a:srgbClr val="FFFFFF"/>
                    </a:solidFill>
                  </a:tcPr>
                </a:tc>
                <a:tc>
                  <a:txBody>
                    <a:bodyPr/>
                    <a:lstStyle/>
                    <a:p>
                      <a:pPr>
                        <a:defRPr sz="800" b="1">
                          <a:solidFill>
                            <a:srgbClr val="0F172A"/>
                          </a:solidFill>
                        </a:defRPr>
                      </a:pPr>
                      <a:r>
                        <a:t>20.73%</a:t>
                      </a:r>
                    </a:p>
                  </a:txBody>
                  <a:tcPr>
                    <a:solidFill>
                      <a:srgbClr val="FFFFFF"/>
                    </a:solidFill>
                  </a:tcPr>
                </a:tc>
                <a:tc>
                  <a:txBody>
                    <a:bodyPr/>
                    <a:lstStyle/>
                    <a:p>
                      <a:pPr>
                        <a:defRPr sz="800" b="1">
                          <a:solidFill>
                            <a:srgbClr val="10B981"/>
                          </a:solidFill>
                        </a:defRPr>
                      </a:pPr>
                      <a:r>
                        <a:t>7.28%</a:t>
                      </a:r>
                    </a:p>
                  </a:txBody>
                  <a:tcPr>
                    <a:solidFill>
                      <a:srgbClr val="FFFFFF"/>
                    </a:solidFill>
                  </a:tcPr>
                </a:tc>
                <a:tc>
                  <a:txBody>
                    <a:bodyPr/>
                    <a:lstStyle/>
                    <a:p>
                      <a:pPr>
                        <a:defRPr sz="800" b="1">
                          <a:solidFill>
                            <a:srgbClr val="10B981"/>
                          </a:solidFill>
                        </a:defRPr>
                      </a:pPr>
                      <a:r>
                        <a:t>-13.45 pp (-65%)</a:t>
                      </a:r>
                    </a:p>
                  </a:txBody>
                  <a:tcPr>
                    <a:solidFill>
                      <a:srgbClr val="FFFFFF"/>
                    </a:solidFill>
                  </a:tcPr>
                </a:tc>
                <a:tc>
                  <a:txBody>
                    <a:bodyPr/>
                    <a:lstStyle/>
                    <a:p>
                      <a:pPr>
                        <a:defRPr sz="800" b="1">
                          <a:solidFill>
                            <a:srgbClr val="0F172A"/>
                          </a:solidFill>
                        </a:defRPr>
                      </a:pPr>
                      <a:r>
                        <a:t>+6.69%</a:t>
                      </a:r>
                    </a:p>
                  </a:txBody>
                  <a:tcPr>
                    <a:solidFill>
                      <a:srgbClr val="FFFFFF"/>
                    </a:solidFill>
                  </a:tcPr>
                </a:tc>
                <a:tc>
                  <a:txBody>
                    <a:bodyPr/>
                    <a:lstStyle/>
                    <a:p>
                      <a:pPr>
                        <a:defRPr sz="800" b="1">
                          <a:solidFill>
                            <a:srgbClr val="0F172A"/>
                          </a:solidFill>
                        </a:defRPr>
                      </a:pPr>
                      <a:r>
                        <a:t>+0.69%</a:t>
                      </a:r>
                    </a:p>
                  </a:txBody>
                  <a:tcPr>
                    <a:solidFill>
                      <a:srgbClr val="FFFFFF"/>
                    </a:solidFill>
                  </a:tcPr>
                </a:tc>
                <a:tc>
                  <a:txBody>
                    <a:bodyPr/>
                    <a:lstStyle/>
                    <a:p>
                      <a:pPr>
                        <a:defRPr sz="800" b="1">
                          <a:solidFill>
                            <a:srgbClr val="0F172A"/>
                          </a:solidFill>
                        </a:defRPr>
                      </a:pPr>
                      <a:r>
                        <a:t>Meta Cumplida</a:t>
                      </a:r>
                    </a:p>
                  </a:txBody>
                  <a:tcPr>
                    <a:solidFill>
                      <a:srgbClr val="FFFFFF"/>
                    </a:solidFill>
                  </a:tcPr>
                </a:tc>
              </a:tr>
              <a:tr h="411480">
                <a:tc>
                  <a:txBody>
                    <a:bodyPr/>
                    <a:lstStyle/>
                    <a:p>
                      <a:pPr>
                        <a:defRPr sz="800" b="1">
                          <a:solidFill>
                            <a:srgbClr val="0F172A"/>
                          </a:solidFill>
                        </a:defRPr>
                      </a:pPr>
                      <a:r>
                        <a:t>CD_SUR</a:t>
                      </a:r>
                    </a:p>
                  </a:txBody>
                  <a:tcPr>
                    <a:solidFill>
                      <a:srgbClr val="F8FAFC"/>
                    </a:solidFill>
                  </a:tcPr>
                </a:tc>
                <a:tc>
                  <a:txBody>
                    <a:bodyPr/>
                    <a:lstStyle/>
                    <a:p>
                      <a:pPr>
                        <a:defRPr sz="800">
                          <a:solidFill>
                            <a:srgbClr val="0F172A"/>
                          </a:solidFill>
                        </a:defRPr>
                      </a:pPr>
                      <a:r>
                        <a:t>31.14%</a:t>
                      </a:r>
                    </a:p>
                  </a:txBody>
                  <a:tcPr>
                    <a:solidFill>
                      <a:srgbClr val="F8FAFC"/>
                    </a:solidFill>
                  </a:tcPr>
                </a:tc>
                <a:tc>
                  <a:txBody>
                    <a:bodyPr/>
                    <a:lstStyle/>
                    <a:p>
                      <a:pPr>
                        <a:defRPr sz="800" b="1">
                          <a:solidFill>
                            <a:srgbClr val="10B981"/>
                          </a:solidFill>
                        </a:defRPr>
                      </a:pPr>
                      <a:r>
                        <a:t>6.48%</a:t>
                      </a:r>
                    </a:p>
                  </a:txBody>
                  <a:tcPr>
                    <a:solidFill>
                      <a:srgbClr val="F8FAFC"/>
                    </a:solidFill>
                  </a:tcPr>
                </a:tc>
                <a:tc>
                  <a:txBody>
                    <a:bodyPr/>
                    <a:lstStyle/>
                    <a:p>
                      <a:pPr>
                        <a:defRPr sz="800" b="1">
                          <a:solidFill>
                            <a:srgbClr val="10B981"/>
                          </a:solidFill>
                        </a:defRPr>
                      </a:pPr>
                      <a:r>
                        <a:t>-24.66 pp (-79%)</a:t>
                      </a:r>
                    </a:p>
                  </a:txBody>
                  <a:tcPr>
                    <a:solidFill>
                      <a:srgbClr val="F8FAFC"/>
                    </a:solidFill>
                  </a:tcPr>
                </a:tc>
                <a:tc>
                  <a:txBody>
                    <a:bodyPr/>
                    <a:lstStyle/>
                    <a:p>
                      <a:pPr>
                        <a:defRPr sz="800">
                          <a:solidFill>
                            <a:srgbClr val="0F172A"/>
                          </a:solidFill>
                        </a:defRPr>
                      </a:pPr>
                      <a:r>
                        <a:t>+31.14%</a:t>
                      </a:r>
                    </a:p>
                  </a:txBody>
                  <a:tcPr>
                    <a:solidFill>
                      <a:srgbClr val="F8FAFC"/>
                    </a:solidFill>
                  </a:tcPr>
                </a:tc>
                <a:tc>
                  <a:txBody>
                    <a:bodyPr/>
                    <a:lstStyle/>
                    <a:p>
                      <a:pPr>
                        <a:defRPr sz="800">
                          <a:solidFill>
                            <a:srgbClr val="0F172A"/>
                          </a:solidFill>
                        </a:defRPr>
                      </a:pPr>
                      <a:r>
                        <a:t>-0.15%</a:t>
                      </a:r>
                    </a:p>
                  </a:txBody>
                  <a:tcPr>
                    <a:solidFill>
                      <a:srgbClr val="F8FAFC"/>
                    </a:solidFill>
                  </a:tcPr>
                </a:tc>
                <a:tc>
                  <a:txBody>
                    <a:bodyPr/>
                    <a:lstStyle/>
                    <a:p>
                      <a:pPr>
                        <a:defRPr sz="800">
                          <a:solidFill>
                            <a:srgbClr val="0F172A"/>
                          </a:solidFill>
                        </a:defRPr>
                      </a:pPr>
                      <a:r>
                        <a:t>Sesgo Neutralizado</a:t>
                      </a:r>
                    </a:p>
                  </a:txBody>
                  <a:tcPr>
                    <a:solidFill>
                      <a:srgbClr val="F8FAFC"/>
                    </a:solidFill>
                  </a:tcPr>
                </a:tc>
              </a:tr>
              <a:tr h="411480">
                <a:tc>
                  <a:txBody>
                    <a:bodyPr/>
                    <a:lstStyle/>
                    <a:p>
                      <a:pPr>
                        <a:defRPr sz="800" b="1">
                          <a:solidFill>
                            <a:srgbClr val="0F172A"/>
                          </a:solidFill>
                        </a:defRPr>
                      </a:pPr>
                      <a:r>
                        <a:t>CD_ESTE</a:t>
                      </a:r>
                    </a:p>
                  </a:txBody>
                  <a:tcPr>
                    <a:solidFill>
                      <a:srgbClr val="FFFFFF"/>
                    </a:solidFill>
                  </a:tcPr>
                </a:tc>
                <a:tc>
                  <a:txBody>
                    <a:bodyPr/>
                    <a:lstStyle/>
                    <a:p>
                      <a:pPr>
                        <a:defRPr sz="800">
                          <a:solidFill>
                            <a:srgbClr val="0F172A"/>
                          </a:solidFill>
                        </a:defRPr>
                      </a:pPr>
                      <a:r>
                        <a:t>26.44%</a:t>
                      </a:r>
                    </a:p>
                  </a:txBody>
                  <a:tcPr>
                    <a:solidFill>
                      <a:srgbClr val="FFFFFF"/>
                    </a:solidFill>
                  </a:tcPr>
                </a:tc>
                <a:tc>
                  <a:txBody>
                    <a:bodyPr/>
                    <a:lstStyle/>
                    <a:p>
                      <a:pPr>
                        <a:defRPr sz="800" b="1">
                          <a:solidFill>
                            <a:srgbClr val="10B981"/>
                          </a:solidFill>
                        </a:defRPr>
                      </a:pPr>
                      <a:r>
                        <a:t>8.08%</a:t>
                      </a:r>
                    </a:p>
                  </a:txBody>
                  <a:tcPr>
                    <a:solidFill>
                      <a:srgbClr val="FFFFFF"/>
                    </a:solidFill>
                  </a:tcPr>
                </a:tc>
                <a:tc>
                  <a:txBody>
                    <a:bodyPr/>
                    <a:lstStyle/>
                    <a:p>
                      <a:pPr>
                        <a:defRPr sz="800" b="1">
                          <a:solidFill>
                            <a:srgbClr val="10B981"/>
                          </a:solidFill>
                        </a:defRPr>
                      </a:pPr>
                      <a:r>
                        <a:t>-18.36 pp (-69%)</a:t>
                      </a:r>
                    </a:p>
                  </a:txBody>
                  <a:tcPr>
                    <a:solidFill>
                      <a:srgbClr val="FFFFFF"/>
                    </a:solidFill>
                  </a:tcPr>
                </a:tc>
                <a:tc>
                  <a:txBody>
                    <a:bodyPr/>
                    <a:lstStyle/>
                    <a:p>
                      <a:pPr>
                        <a:defRPr sz="800">
                          <a:solidFill>
                            <a:srgbClr val="0F172A"/>
                          </a:solidFill>
                        </a:defRPr>
                      </a:pPr>
                      <a:r>
                        <a:t>+25.87%</a:t>
                      </a:r>
                    </a:p>
                  </a:txBody>
                  <a:tcPr>
                    <a:solidFill>
                      <a:srgbClr val="FFFFFF"/>
                    </a:solidFill>
                  </a:tcPr>
                </a:tc>
                <a:tc>
                  <a:txBody>
                    <a:bodyPr/>
                    <a:lstStyle/>
                    <a:p>
                      <a:pPr>
                        <a:defRPr sz="800">
                          <a:solidFill>
                            <a:srgbClr val="0F172A"/>
                          </a:solidFill>
                        </a:defRPr>
                      </a:pPr>
                      <a:r>
                        <a:t>+2.98%</a:t>
                      </a:r>
                    </a:p>
                  </a:txBody>
                  <a:tcPr>
                    <a:solidFill>
                      <a:srgbClr val="FFFFFF"/>
                    </a:solidFill>
                  </a:tcPr>
                </a:tc>
                <a:tc>
                  <a:txBody>
                    <a:bodyPr/>
                    <a:lstStyle/>
                    <a:p>
                      <a:pPr>
                        <a:defRPr sz="800">
                          <a:solidFill>
                            <a:srgbClr val="0F172A"/>
                          </a:solidFill>
                        </a:defRPr>
                      </a:pPr>
                      <a:r>
                        <a:t>Subestimación eliminada</a:t>
                      </a:r>
                    </a:p>
                  </a:txBody>
                  <a:tcPr>
                    <a:solidFill>
                      <a:srgbClr val="FFFFFF"/>
                    </a:solidFill>
                  </a:tcPr>
                </a:tc>
              </a:tr>
              <a:tr h="411480">
                <a:tc>
                  <a:txBody>
                    <a:bodyPr/>
                    <a:lstStyle/>
                    <a:p>
                      <a:pPr>
                        <a:defRPr sz="800" b="1">
                          <a:solidFill>
                            <a:srgbClr val="0F172A"/>
                          </a:solidFill>
                        </a:defRPr>
                      </a:pPr>
                      <a:r>
                        <a:t>CD_PACIFICO</a:t>
                      </a:r>
                    </a:p>
                  </a:txBody>
                  <a:tcPr>
                    <a:solidFill>
                      <a:srgbClr val="F8FAFC"/>
                    </a:solidFill>
                  </a:tcPr>
                </a:tc>
                <a:tc>
                  <a:txBody>
                    <a:bodyPr/>
                    <a:lstStyle/>
                    <a:p>
                      <a:pPr>
                        <a:defRPr sz="800">
                          <a:solidFill>
                            <a:srgbClr val="0F172A"/>
                          </a:solidFill>
                        </a:defRPr>
                      </a:pPr>
                      <a:r>
                        <a:t>23.14%</a:t>
                      </a:r>
                    </a:p>
                  </a:txBody>
                  <a:tcPr>
                    <a:solidFill>
                      <a:srgbClr val="F8FAFC"/>
                    </a:solidFill>
                  </a:tcPr>
                </a:tc>
                <a:tc>
                  <a:txBody>
                    <a:bodyPr/>
                    <a:lstStyle/>
                    <a:p>
                      <a:pPr>
                        <a:defRPr sz="800" b="1">
                          <a:solidFill>
                            <a:srgbClr val="10B981"/>
                          </a:solidFill>
                        </a:defRPr>
                      </a:pPr>
                      <a:r>
                        <a:t>5.72%</a:t>
                      </a:r>
                    </a:p>
                  </a:txBody>
                  <a:tcPr>
                    <a:solidFill>
                      <a:srgbClr val="F8FAFC"/>
                    </a:solidFill>
                  </a:tcPr>
                </a:tc>
                <a:tc>
                  <a:txBody>
                    <a:bodyPr/>
                    <a:lstStyle/>
                    <a:p>
                      <a:pPr>
                        <a:defRPr sz="800" b="1">
                          <a:solidFill>
                            <a:srgbClr val="10B981"/>
                          </a:solidFill>
                        </a:defRPr>
                      </a:pPr>
                      <a:r>
                        <a:t>-17.43 pp (-75%)</a:t>
                      </a:r>
                    </a:p>
                  </a:txBody>
                  <a:tcPr>
                    <a:solidFill>
                      <a:srgbClr val="F8FAFC"/>
                    </a:solidFill>
                  </a:tcPr>
                </a:tc>
                <a:tc>
                  <a:txBody>
                    <a:bodyPr/>
                    <a:lstStyle/>
                    <a:p>
                      <a:pPr>
                        <a:defRPr sz="800">
                          <a:solidFill>
                            <a:srgbClr val="0F172A"/>
                          </a:solidFill>
                        </a:defRPr>
                      </a:pPr>
                      <a:r>
                        <a:t>-22.52%</a:t>
                      </a:r>
                    </a:p>
                  </a:txBody>
                  <a:tcPr>
                    <a:solidFill>
                      <a:srgbClr val="F8FAFC"/>
                    </a:solidFill>
                  </a:tcPr>
                </a:tc>
                <a:tc>
                  <a:txBody>
                    <a:bodyPr/>
                    <a:lstStyle/>
                    <a:p>
                      <a:pPr>
                        <a:defRPr sz="800">
                          <a:solidFill>
                            <a:srgbClr val="0F172A"/>
                          </a:solidFill>
                        </a:defRPr>
                      </a:pPr>
                      <a:r>
                        <a:t>+0.16%</a:t>
                      </a:r>
                    </a:p>
                  </a:txBody>
                  <a:tcPr>
                    <a:solidFill>
                      <a:srgbClr val="F8FAFC"/>
                    </a:solidFill>
                  </a:tcPr>
                </a:tc>
                <a:tc>
                  <a:txBody>
                    <a:bodyPr/>
                    <a:lstStyle/>
                    <a:p>
                      <a:pPr>
                        <a:defRPr sz="800">
                          <a:solidFill>
                            <a:srgbClr val="0F172A"/>
                          </a:solidFill>
                        </a:defRPr>
                      </a:pPr>
                      <a:r>
                        <a:t>Corregido</a:t>
                      </a:r>
                    </a:p>
                  </a:txBody>
                  <a:tcPr>
                    <a:solidFill>
                      <a:srgbClr val="F8FAFC"/>
                    </a:solidFill>
                  </a:tcPr>
                </a:tc>
              </a:tr>
              <a:tr h="411480">
                <a:tc>
                  <a:txBody>
                    <a:bodyPr/>
                    <a:lstStyle/>
                    <a:p>
                      <a:pPr>
                        <a:defRPr sz="800" b="1">
                          <a:solidFill>
                            <a:srgbClr val="0F172A"/>
                          </a:solidFill>
                        </a:defRPr>
                      </a:pPr>
                      <a:r>
                        <a:t>CD_OESTE</a:t>
                      </a:r>
                    </a:p>
                  </a:txBody>
                  <a:tcPr>
                    <a:solidFill>
                      <a:srgbClr val="FFFFFF"/>
                    </a:solidFill>
                  </a:tcPr>
                </a:tc>
                <a:tc>
                  <a:txBody>
                    <a:bodyPr/>
                    <a:lstStyle/>
                    <a:p>
                      <a:pPr>
                        <a:defRPr sz="800">
                          <a:solidFill>
                            <a:srgbClr val="0F172A"/>
                          </a:solidFill>
                        </a:defRPr>
                      </a:pPr>
                      <a:r>
                        <a:t>23.45%</a:t>
                      </a:r>
                    </a:p>
                  </a:txBody>
                  <a:tcPr>
                    <a:solidFill>
                      <a:srgbClr val="FFFFFF"/>
                    </a:solidFill>
                  </a:tcPr>
                </a:tc>
                <a:tc>
                  <a:txBody>
                    <a:bodyPr/>
                    <a:lstStyle/>
                    <a:p>
                      <a:pPr>
                        <a:defRPr sz="800" b="1">
                          <a:solidFill>
                            <a:srgbClr val="10B981"/>
                          </a:solidFill>
                        </a:defRPr>
                      </a:pPr>
                      <a:r>
                        <a:t>8.24%</a:t>
                      </a:r>
                    </a:p>
                  </a:txBody>
                  <a:tcPr>
                    <a:solidFill>
                      <a:srgbClr val="FFFFFF"/>
                    </a:solidFill>
                  </a:tcPr>
                </a:tc>
                <a:tc>
                  <a:txBody>
                    <a:bodyPr/>
                    <a:lstStyle/>
                    <a:p>
                      <a:pPr>
                        <a:defRPr sz="800" b="1">
                          <a:solidFill>
                            <a:srgbClr val="10B981"/>
                          </a:solidFill>
                        </a:defRPr>
                      </a:pPr>
                      <a:r>
                        <a:t>-15.21 pp (-65%)</a:t>
                      </a:r>
                    </a:p>
                  </a:txBody>
                  <a:tcPr>
                    <a:solidFill>
                      <a:srgbClr val="FFFFFF"/>
                    </a:solidFill>
                  </a:tcPr>
                </a:tc>
                <a:tc>
                  <a:txBody>
                    <a:bodyPr/>
                    <a:lstStyle/>
                    <a:p>
                      <a:pPr>
                        <a:defRPr sz="800">
                          <a:solidFill>
                            <a:srgbClr val="0F172A"/>
                          </a:solidFill>
                        </a:defRPr>
                      </a:pPr>
                      <a:r>
                        <a:t>-21.95%</a:t>
                      </a:r>
                    </a:p>
                  </a:txBody>
                  <a:tcPr>
                    <a:solidFill>
                      <a:srgbClr val="FFFFFF"/>
                    </a:solidFill>
                  </a:tcPr>
                </a:tc>
                <a:tc>
                  <a:txBody>
                    <a:bodyPr/>
                    <a:lstStyle/>
                    <a:p>
                      <a:pPr>
                        <a:defRPr sz="800">
                          <a:solidFill>
                            <a:srgbClr val="0F172A"/>
                          </a:solidFill>
                        </a:defRPr>
                      </a:pPr>
                      <a:r>
                        <a:t>-1.89%</a:t>
                      </a:r>
                    </a:p>
                  </a:txBody>
                  <a:tcPr>
                    <a:solidFill>
                      <a:srgbClr val="FFFFFF"/>
                    </a:solidFill>
                  </a:tcPr>
                </a:tc>
                <a:tc>
                  <a:txBody>
                    <a:bodyPr/>
                    <a:lstStyle/>
                    <a:p>
                      <a:pPr>
                        <a:defRPr sz="800">
                          <a:solidFill>
                            <a:srgbClr val="0F172A"/>
                          </a:solidFill>
                        </a:defRPr>
                      </a:pPr>
                      <a:r>
                        <a:t>Corregido</a:t>
                      </a:r>
                    </a:p>
                  </a:txBody>
                  <a:tcPr>
                    <a:solidFill>
                      <a:srgbClr val="FFFFFF"/>
                    </a:solidFill>
                  </a:tcPr>
                </a:tc>
              </a:tr>
              <a:tr h="411480">
                <a:tc>
                  <a:txBody>
                    <a:bodyPr/>
                    <a:lstStyle/>
                    <a:p>
                      <a:pPr>
                        <a:defRPr sz="800" b="1">
                          <a:solidFill>
                            <a:srgbClr val="0F172A"/>
                          </a:solidFill>
                        </a:defRPr>
                      </a:pPr>
                      <a:r>
                        <a:t>CD_CENTRO</a:t>
                      </a:r>
                    </a:p>
                  </a:txBody>
                  <a:tcPr>
                    <a:solidFill>
                      <a:srgbClr val="F8FAFC"/>
                    </a:solidFill>
                  </a:tcPr>
                </a:tc>
                <a:tc>
                  <a:txBody>
                    <a:bodyPr/>
                    <a:lstStyle/>
                    <a:p>
                      <a:pPr>
                        <a:defRPr sz="800">
                          <a:solidFill>
                            <a:srgbClr val="0F172A"/>
                          </a:solidFill>
                        </a:defRPr>
                      </a:pPr>
                      <a:r>
                        <a:t>23.04%</a:t>
                      </a:r>
                    </a:p>
                  </a:txBody>
                  <a:tcPr>
                    <a:solidFill>
                      <a:srgbClr val="F8FAFC"/>
                    </a:solidFill>
                  </a:tcPr>
                </a:tc>
                <a:tc>
                  <a:txBody>
                    <a:bodyPr/>
                    <a:lstStyle/>
                    <a:p>
                      <a:pPr>
                        <a:defRPr sz="800" b="1">
                          <a:solidFill>
                            <a:srgbClr val="10B981"/>
                          </a:solidFill>
                        </a:defRPr>
                      </a:pPr>
                      <a:r>
                        <a:t>9.70%</a:t>
                      </a:r>
                    </a:p>
                  </a:txBody>
                  <a:tcPr>
                    <a:solidFill>
                      <a:srgbClr val="F8FAFC"/>
                    </a:solidFill>
                  </a:tcPr>
                </a:tc>
                <a:tc>
                  <a:txBody>
                    <a:bodyPr/>
                    <a:lstStyle/>
                    <a:p>
                      <a:pPr>
                        <a:defRPr sz="800" b="1">
                          <a:solidFill>
                            <a:srgbClr val="10B981"/>
                          </a:solidFill>
                        </a:defRPr>
                      </a:pPr>
                      <a:r>
                        <a:t>-13.33 pp (-58%)</a:t>
                      </a:r>
                    </a:p>
                  </a:txBody>
                  <a:tcPr>
                    <a:solidFill>
                      <a:srgbClr val="F8FAFC"/>
                    </a:solidFill>
                  </a:tcPr>
                </a:tc>
                <a:tc>
                  <a:txBody>
                    <a:bodyPr/>
                    <a:lstStyle/>
                    <a:p>
                      <a:pPr>
                        <a:defRPr sz="800">
                          <a:solidFill>
                            <a:srgbClr val="0F172A"/>
                          </a:solidFill>
                        </a:defRPr>
                      </a:pPr>
                      <a:r>
                        <a:t>-19.35%</a:t>
                      </a:r>
                    </a:p>
                  </a:txBody>
                  <a:tcPr>
                    <a:solidFill>
                      <a:srgbClr val="F8FAFC"/>
                    </a:solidFill>
                  </a:tcPr>
                </a:tc>
                <a:tc>
                  <a:txBody>
                    <a:bodyPr/>
                    <a:lstStyle/>
                    <a:p>
                      <a:pPr>
                        <a:defRPr sz="800">
                          <a:solidFill>
                            <a:srgbClr val="0F172A"/>
                          </a:solidFill>
                        </a:defRPr>
                      </a:pPr>
                      <a:r>
                        <a:t>+0.48%</a:t>
                      </a:r>
                    </a:p>
                  </a:txBody>
                  <a:tcPr>
                    <a:solidFill>
                      <a:srgbClr val="F8FAFC"/>
                    </a:solidFill>
                  </a:tcPr>
                </a:tc>
                <a:tc>
                  <a:txBody>
                    <a:bodyPr/>
                    <a:lstStyle/>
                    <a:p>
                      <a:pPr>
                        <a:defRPr sz="800">
                          <a:solidFill>
                            <a:srgbClr val="0F172A"/>
                          </a:solidFill>
                        </a:defRPr>
                      </a:pPr>
                      <a:r>
                        <a:t>Corregido</a:t>
                      </a:r>
                    </a:p>
                  </a:txBody>
                  <a:tcPr>
                    <a:solidFill>
                      <a:srgbClr val="F8FAFC"/>
                    </a:solidFill>
                  </a:tcPr>
                </a:tc>
              </a:tr>
              <a:tr h="411480">
                <a:tc>
                  <a:txBody>
                    <a:bodyPr/>
                    <a:lstStyle/>
                    <a:p>
                      <a:pPr>
                        <a:defRPr sz="800" b="1">
                          <a:solidFill>
                            <a:srgbClr val="0F172A"/>
                          </a:solidFill>
                        </a:defRPr>
                      </a:pPr>
                      <a:r>
                        <a:t>CD_NORTE</a:t>
                      </a:r>
                    </a:p>
                  </a:txBody>
                  <a:tcPr>
                    <a:solidFill>
                      <a:srgbClr val="FFFFFF"/>
                    </a:solidFill>
                  </a:tcPr>
                </a:tc>
                <a:tc>
                  <a:txBody>
                    <a:bodyPr/>
                    <a:lstStyle/>
                    <a:p>
                      <a:pPr>
                        <a:defRPr sz="800">
                          <a:solidFill>
                            <a:srgbClr val="0F172A"/>
                          </a:solidFill>
                        </a:defRPr>
                      </a:pPr>
                      <a:r>
                        <a:t>9.59%</a:t>
                      </a:r>
                    </a:p>
                  </a:txBody>
                  <a:tcPr>
                    <a:solidFill>
                      <a:srgbClr val="FFFFFF"/>
                    </a:solidFill>
                  </a:tcPr>
                </a:tc>
                <a:tc>
                  <a:txBody>
                    <a:bodyPr/>
                    <a:lstStyle/>
                    <a:p>
                      <a:pPr>
                        <a:defRPr sz="800" b="1">
                          <a:solidFill>
                            <a:srgbClr val="10B981"/>
                          </a:solidFill>
                        </a:defRPr>
                      </a:pPr>
                      <a:r>
                        <a:t>6.64%</a:t>
                      </a:r>
                    </a:p>
                  </a:txBody>
                  <a:tcPr>
                    <a:solidFill>
                      <a:srgbClr val="FFFFFF"/>
                    </a:solidFill>
                  </a:tcPr>
                </a:tc>
                <a:tc>
                  <a:txBody>
                    <a:bodyPr/>
                    <a:lstStyle/>
                    <a:p>
                      <a:pPr>
                        <a:defRPr sz="800" b="1">
                          <a:solidFill>
                            <a:srgbClr val="10B981"/>
                          </a:solidFill>
                        </a:defRPr>
                      </a:pPr>
                      <a:r>
                        <a:t>-2.94 pp (-31%)</a:t>
                      </a:r>
                    </a:p>
                  </a:txBody>
                  <a:tcPr>
                    <a:solidFill>
                      <a:srgbClr val="FFFFFF"/>
                    </a:solidFill>
                  </a:tcPr>
                </a:tc>
                <a:tc>
                  <a:txBody>
                    <a:bodyPr/>
                    <a:lstStyle/>
                    <a:p>
                      <a:pPr>
                        <a:defRPr sz="800">
                          <a:solidFill>
                            <a:srgbClr val="0F172A"/>
                          </a:solidFill>
                        </a:defRPr>
                      </a:pPr>
                      <a:r>
                        <a:t>+7.76%</a:t>
                      </a:r>
                    </a:p>
                  </a:txBody>
                  <a:tcPr>
                    <a:solidFill>
                      <a:srgbClr val="FFFFFF"/>
                    </a:solidFill>
                  </a:tcPr>
                </a:tc>
                <a:tc>
                  <a:txBody>
                    <a:bodyPr/>
                    <a:lstStyle/>
                    <a:p>
                      <a:pPr>
                        <a:defRPr sz="800">
                          <a:solidFill>
                            <a:srgbClr val="0F172A"/>
                          </a:solidFill>
                        </a:defRPr>
                      </a:pPr>
                      <a:r>
                        <a:t>+1.32%</a:t>
                      </a:r>
                    </a:p>
                  </a:txBody>
                  <a:tcPr>
                    <a:solidFill>
                      <a:srgbClr val="FFFFFF"/>
                    </a:solidFill>
                  </a:tcPr>
                </a:tc>
                <a:tc>
                  <a:txBody>
                    <a:bodyPr/>
                    <a:lstStyle/>
                    <a:p>
                      <a:pPr>
                        <a:defRPr sz="800">
                          <a:solidFill>
                            <a:srgbClr val="0F172A"/>
                          </a:solidFill>
                        </a:defRPr>
                      </a:pPr>
                      <a:r>
                        <a:t>Optimizado</a:t>
                      </a:r>
                    </a:p>
                  </a:txBody>
                  <a:tcPr>
                    <a:solidFill>
                      <a:srgbClr val="FFFFFF"/>
                    </a:solidFill>
                  </a:tcPr>
                </a:tc>
              </a:tr>
            </a:tbl>
          </a:graphicData>
        </a:graphic>
      </p:graphicFrame>
      <p:sp>
        <p:nvSpPr>
          <p:cNvPr id="6" name="Rounded Rectangle 5"/>
          <p:cNvSpPr/>
          <p:nvPr/>
        </p:nvSpPr>
        <p:spPr>
          <a:xfrm>
            <a:off x="457200" y="4754880"/>
            <a:ext cx="6217920" cy="164592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a:lstStyle/>
          <a:p>
            <a:pPr algn="ctr">
              <a:defRPr sz="900" b="1">
                <a:solidFill>
                  <a:srgbClr val="065F46"/>
                </a:solidFill>
              </a:defRPr>
            </a:pPr>
            <a:r>
              <a:t>HONESTIDAD ANALÍTICA Y PÉRDIDA ASIMÉTRICA EN OUT-OF-SAMPLE:</a:t>
            </a:r>
          </a:p>
          <a:p>
            <a:pPr>
              <a:defRPr sz="850">
                <a:solidFill>
                  <a:srgbClr val="0F172A"/>
                </a:solidFill>
              </a:defRPr>
            </a:pPr>
            <a:r>
              <a:t>• Degradación Controlada por Horizonte: D+1: 5.76% | D+2: 6.16% | D+3: 7.32% | D+4: 9.90%.</a:t>
            </a:r>
            <a:br/>
            <a:r>
              <a:t>• Criterio de Honestidad (PDF): A 96 horas el WAPE sube a 9.90% reflejando la dispersión real de clientes fuera de plan.</a:t>
            </a:r>
            <a:br/>
            <a:r>
              <a:t>• Desplome en Pérdida Asimétrica: Cae del 41.30% al 13.26% (-28.04 pp / -67.9% relativo), eliminando fletes spot.</a:t>
            </a:r>
          </a:p>
        </p:txBody>
      </p:sp>
      <p:pic>
        <p:nvPicPr>
          <p:cNvPr id="7" name="Picture 6" descr="comparativa_wape_modelo_vs_baseline.png"/>
          <p:cNvPicPr>
            <a:picLocks noChangeAspect="1"/>
          </p:cNvPicPr>
          <p:nvPr/>
        </p:nvPicPr>
        <p:blipFill>
          <a:blip r:embed="rId2"/>
          <a:stretch>
            <a:fillRect/>
          </a:stretch>
        </p:blipFill>
        <p:spPr>
          <a:xfrm>
            <a:off x="6858000" y="1371600"/>
            <a:ext cx="4892040" cy="2423160"/>
          </a:xfrm>
          <a:prstGeom prst="rect">
            <a:avLst/>
          </a:prstGeom>
        </p:spPr>
      </p:pic>
      <p:pic>
        <p:nvPicPr>
          <p:cNvPr id="8" name="Picture 7" descr="comparativa_bias_modelo_vs_baseline.png"/>
          <p:cNvPicPr>
            <a:picLocks noChangeAspect="1"/>
          </p:cNvPicPr>
          <p:nvPr/>
        </p:nvPicPr>
        <p:blipFill>
          <a:blip r:embed="rId3"/>
          <a:stretch>
            <a:fillRect/>
          </a:stretch>
        </p:blipFill>
        <p:spPr>
          <a:xfrm>
            <a:off x="6858000" y="3931920"/>
            <a:ext cx="4892040" cy="24231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4747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457200" tIns="54864"/>
          <a:lstStyle/>
          <a:p>
            <a:pPr algn="ctr">
              <a:defRPr sz="850" b="1">
                <a:solidFill>
                  <a:srgbClr val="38BDF8"/>
                </a:solidFill>
              </a:defRPr>
            </a:pPr>
            <a:r>
              <a:t>ESTRATEGIA ANALÍTICA &amp; OPTIMIZACIÓN DE SUPPLY CHAIN B2B  |  DESAFÍO TÉCNICO: DATA SCIENTIST LEAD</a:t>
            </a:r>
          </a:p>
        </p:txBody>
      </p:sp>
      <p:sp>
        <p:nvSpPr>
          <p:cNvPr id="3" name="Rectangle 2"/>
          <p:cNvSpPr/>
          <p:nvPr/>
        </p:nvSpPr>
        <p:spPr>
          <a:xfrm>
            <a:off x="0" y="6510528"/>
            <a:ext cx="12191695" cy="347472"/>
          </a:xfrm>
          <a:prstGeom prst="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457200" tIns="54864"/>
          <a:lstStyle/>
          <a:p>
            <a:pPr algn="ctr">
              <a:defRPr sz="850">
                <a:solidFill>
                  <a:srgbClr val="64748B"/>
                </a:solidFill>
              </a:defRPr>
            </a:pPr>
            <a:r>
              <a:t>Sebastián Felipe Urzúa Bórquez | Postulación Data Scientist Lead | Presentación Técnica Oficial          Diapositiva 8 de 10</a:t>
            </a:r>
          </a:p>
        </p:txBody>
      </p:sp>
      <p:sp>
        <p:nvSpPr>
          <p:cNvPr id="4" name="TextBox 3"/>
          <p:cNvSpPr txBox="1"/>
          <p:nvPr/>
        </p:nvSpPr>
        <p:spPr>
          <a:xfrm>
            <a:off x="457200" y="402336"/>
            <a:ext cx="11277295" cy="868680"/>
          </a:xfrm>
          <a:prstGeom prst="rect">
            <a:avLst/>
          </a:prstGeom>
          <a:noFill/>
        </p:spPr>
        <p:txBody>
          <a:bodyPr wrap="square" lIns="0" tIns="0" rIns="0" bIns="0">
            <a:spAutoFit/>
          </a:bodyPr>
          <a:lstStyle/>
          <a:p>
            <a:pPr>
              <a:defRPr sz="900" b="1">
                <a:solidFill>
                  <a:srgbClr val="2563EB"/>
                </a:solidFill>
              </a:defRPr>
            </a:pPr>
            <a:r>
              <a:t>TAREA 4: REGLA DE CONTROL OPERATIVO (GATE), COBERTURA HISTÓRICA MÍNIMA Y FALLBACK SEGURO</a:t>
            </a:r>
          </a:p>
          <a:p>
            <a:pPr>
              <a:defRPr sz="1550" b="1">
                <a:solidFill>
                  <a:srgbClr val="0F172A"/>
                </a:solidFill>
              </a:defRPr>
            </a:pPr>
            <a:r>
              <a:t>El DataCoverageGate con umbral de 45 días previene excepciones ante 'Cold Start' y minimiza el error estándar en un 16.8%.</a:t>
            </a:r>
          </a:p>
        </p:txBody>
      </p:sp>
      <p:sp>
        <p:nvSpPr>
          <p:cNvPr id="5" name="Rounded Rectangle 4"/>
          <p:cNvSpPr/>
          <p:nvPr/>
        </p:nvSpPr>
        <p:spPr>
          <a:xfrm>
            <a:off x="457200" y="1371600"/>
            <a:ext cx="6217920" cy="502920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defRPr sz="950" b="1">
                <a:solidFill>
                  <a:srgbClr val="2563EB"/>
                </a:solidFill>
              </a:defRPr>
            </a:pPr>
            <a:r>
              <a:t>1. LÓGICA DEL MECANISMO DE CONTROL (DATACOVERAGEGATE):</a:t>
            </a:r>
          </a:p>
          <a:p>
            <a:pPr>
              <a:defRPr sz="850">
                <a:solidFill>
                  <a:srgbClr val="0F172A"/>
                </a:solidFill>
              </a:defRPr>
            </a:pPr>
            <a:r>
              <a:t>• Inspecciona diariamente la racha continua de días de despacho disponibles sin huecos temporales:</a:t>
            </a:r>
            <a:br/>
            <a:r>
              <a:t>  - Si Racha ≥ 45 días: Habilita el reentrenamiento e inferencia del modelo complementario (ADVANCED_CORRECTOR).</a:t>
            </a:r>
            <a:br/>
            <a:r>
              <a:t>  - Si Racha &lt; 45 días (Centro Nuevo o Falla de Datos): Conmuta suavemente a pronóstico base oficial (SAFE_FALLBACK) con logs de advertencia. Cero excepciones en producción.</a:t>
            </a:r>
          </a:p>
          <a:p>
            <a:pPr>
              <a:defRPr sz="950" b="1">
                <a:solidFill>
                  <a:srgbClr val="2563EB"/>
                </a:solidFill>
              </a:defRPr>
            </a:pPr>
            <a:r>
              <a:t>2. FUNDAMENTACIÓN ESTADÍSTICA DEL UMBRAL DE 45 DÍAS:</a:t>
            </a:r>
          </a:p>
          <a:p>
            <a:pPr>
              <a:defRPr sz="850">
                <a:solidFill>
                  <a:srgbClr val="0F172A"/>
                </a:solidFill>
              </a:defRPr>
            </a:pPr>
            <a:r>
              <a:t>• 6.4 Ciclos Semanales Completos: Garantiza observar al menos 6 veces cada día (especialmente el pico crítico del martes).</a:t>
            </a:r>
            <a:br/>
            <a:r>
              <a:t>• Saturación de Rolling Features: Permite computar medias móviles de 21 días (rolling_mean_21d) sin sesgo de inicio.</a:t>
            </a:r>
            <a:br/>
            <a:r>
              <a:t>• Reducción del Error Estándar: Disminuye el error estándar en un 16.8% respecto a 15 días (SE = σ / √45 ≈ 0.149σ).</a:t>
            </a:r>
          </a:p>
          <a:p>
            <a:pPr>
              <a:defRPr sz="950" b="1">
                <a:solidFill>
                  <a:srgbClr val="2563EB"/>
                </a:solidFill>
              </a:defRPr>
            </a:pPr>
            <a:r>
              <a:t>3. ANÁLISIS DE SENSIBILIDAD Y ARGUMENTACIÓN DE RIESGOS (PDF):</a:t>
            </a:r>
          </a:p>
          <a:p>
            <a:pPr>
              <a:defRPr sz="850">
                <a:solidFill>
                  <a:srgbClr val="0F172A"/>
                </a:solidFill>
              </a:defRPr>
            </a:pPr>
            <a:r>
              <a:t>• Riesgo de Reducir Umbral (&lt;45 días, ej. 15-30 días): Varianza muestral excesiva. WAPE salta a &gt;12.5% por sobreajuste en picos erráticos.</a:t>
            </a:r>
            <a:br/>
            <a:r>
              <a:t>• Riesgo de Aumentar Umbral (&gt;45 días, ej. 60-90 días): Costo de oportunidad. Retrasa innecesariamente 3 meses la captura del 65% de ahorro.</a:t>
            </a:r>
            <a:br/>
            <a:r>
              <a:t>• Conclusión Lead: 45 días es el punto óptimo (sweet spot) entre estabilidad matemática y aceleración de valor.</a:t>
            </a:r>
          </a:p>
        </p:txBody>
      </p:sp>
      <p:pic>
        <p:nvPicPr>
          <p:cNvPr id="6" name="Picture 5" descr="flujo_decision_resiliencia_gate.png"/>
          <p:cNvPicPr>
            <a:picLocks noChangeAspect="1"/>
          </p:cNvPicPr>
          <p:nvPr/>
        </p:nvPicPr>
        <p:blipFill>
          <a:blip r:embed="rId2"/>
          <a:stretch>
            <a:fillRect/>
          </a:stretch>
        </p:blipFill>
        <p:spPr>
          <a:xfrm>
            <a:off x="6858000" y="1371600"/>
            <a:ext cx="4892040" cy="2423160"/>
          </a:xfrm>
          <a:prstGeom prst="rect">
            <a:avLst/>
          </a:prstGeom>
        </p:spPr>
      </p:pic>
      <p:pic>
        <p:nvPicPr>
          <p:cNvPr id="7" name="Picture 6" descr="sensibilidad_umbral_dias_wape.png"/>
          <p:cNvPicPr>
            <a:picLocks noChangeAspect="1"/>
          </p:cNvPicPr>
          <p:nvPr/>
        </p:nvPicPr>
        <p:blipFill>
          <a:blip r:embed="rId3"/>
          <a:stretch>
            <a:fillRect/>
          </a:stretch>
        </p:blipFill>
        <p:spPr>
          <a:xfrm>
            <a:off x="6858000" y="3931920"/>
            <a:ext cx="4892040" cy="24231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4747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457200" tIns="54864"/>
          <a:lstStyle/>
          <a:p>
            <a:pPr algn="ctr">
              <a:defRPr sz="850" b="1">
                <a:solidFill>
                  <a:srgbClr val="38BDF8"/>
                </a:solidFill>
              </a:defRPr>
            </a:pPr>
            <a:r>
              <a:t>ESTRATEGIA ANALÍTICA &amp; OPTIMIZACIÓN DE SUPPLY CHAIN B2B  |  DESAFÍO TÉCNICO: DATA SCIENTIST LEAD</a:t>
            </a:r>
          </a:p>
        </p:txBody>
      </p:sp>
      <p:sp>
        <p:nvSpPr>
          <p:cNvPr id="3" name="Rectangle 2"/>
          <p:cNvSpPr/>
          <p:nvPr/>
        </p:nvSpPr>
        <p:spPr>
          <a:xfrm>
            <a:off x="0" y="6510528"/>
            <a:ext cx="12191695" cy="347472"/>
          </a:xfrm>
          <a:prstGeom prst="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457200" tIns="54864"/>
          <a:lstStyle/>
          <a:p>
            <a:pPr algn="ctr">
              <a:defRPr sz="850">
                <a:solidFill>
                  <a:srgbClr val="64748B"/>
                </a:solidFill>
              </a:defRPr>
            </a:pPr>
            <a:r>
              <a:t>Sebastián Felipe Urzúa Bórquez | Postulación Data Scientist Lead | Presentación Técnica Oficial          Diapositiva 9 de 10</a:t>
            </a:r>
          </a:p>
        </p:txBody>
      </p:sp>
      <p:sp>
        <p:nvSpPr>
          <p:cNvPr id="4" name="TextBox 3"/>
          <p:cNvSpPr txBox="1"/>
          <p:nvPr/>
        </p:nvSpPr>
        <p:spPr>
          <a:xfrm>
            <a:off x="457200" y="402336"/>
            <a:ext cx="11277295" cy="868680"/>
          </a:xfrm>
          <a:prstGeom prst="rect">
            <a:avLst/>
          </a:prstGeom>
          <a:noFill/>
        </p:spPr>
        <p:txBody>
          <a:bodyPr wrap="square" lIns="0" tIns="0" rIns="0" bIns="0">
            <a:spAutoFit/>
          </a:bodyPr>
          <a:lstStyle/>
          <a:p>
            <a:pPr>
              <a:defRPr sz="900" b="1">
                <a:solidFill>
                  <a:srgbClr val="2563EB"/>
                </a:solidFill>
              </a:defRPr>
            </a:pPr>
            <a:r>
              <a:t>TAREA 5: DISEÑO CONCEPTUAL DE ARQUITECTURA CLOUD, MLOPS Y PERSISTENCIA EN AWS</a:t>
            </a:r>
          </a:p>
          <a:p>
            <a:pPr>
              <a:defRPr sz="1550" b="1">
                <a:solidFill>
                  <a:srgbClr val="0F172A"/>
                </a:solidFill>
              </a:defRPr>
            </a:pPr>
            <a:r>
              <a:t>La arquitectura AWS Serverless desacopla batch e inferencia en tiempo real (&lt;50ms) con alta disponibilidad y costo de $185 USD/mes.</a:t>
            </a:r>
          </a:p>
        </p:txBody>
      </p:sp>
      <p:pic>
        <p:nvPicPr>
          <p:cNvPr id="5" name="Picture 4" descr="diagrama_arquitectura_aws.png"/>
          <p:cNvPicPr>
            <a:picLocks noChangeAspect="1"/>
          </p:cNvPicPr>
          <p:nvPr/>
        </p:nvPicPr>
        <p:blipFill>
          <a:blip r:embed="rId2"/>
          <a:stretch>
            <a:fillRect/>
          </a:stretch>
        </p:blipFill>
        <p:spPr>
          <a:xfrm>
            <a:off x="457200" y="1325880"/>
            <a:ext cx="11277295" cy="3063240"/>
          </a:xfrm>
          <a:prstGeom prst="rect">
            <a:avLst/>
          </a:prstGeom>
        </p:spPr>
      </p:pic>
      <p:sp>
        <p:nvSpPr>
          <p:cNvPr id="6" name="Rounded Rectangle 5"/>
          <p:cNvSpPr/>
          <p:nvPr/>
        </p:nvSpPr>
        <p:spPr>
          <a:xfrm>
            <a:off x="457200" y="4526280"/>
            <a:ext cx="2743200" cy="187451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defRPr sz="850" b="1">
                <a:solidFill>
                  <a:srgbClr val="2563EB"/>
                </a:solidFill>
              </a:defRPr>
            </a:pPr>
            <a:r>
              <a:t>1. PROCESAMIENTO BATCH / RE-TRAIN</a:t>
            </a:r>
          </a:p>
          <a:p>
            <a:pPr>
              <a:defRPr sz="780">
                <a:solidFill>
                  <a:srgbClr val="0F172A"/>
                </a:solidFill>
              </a:defRPr>
            </a:pPr>
            <a:r>
              <a:t>• EventBridge: Disparo dominical 23:00 UTC o por drift.</a:t>
            </a:r>
            <a:br/>
            <a:r>
              <a:t>• Step Functions: DAG serverless (Contratos Pydantic → Rolling Features → Train).</a:t>
            </a:r>
            <a:br/>
            <a:r>
              <a:t>• SageMaker Spot: Instancias c6i.xlarge (70% ahorro cómputo).</a:t>
            </a:r>
            <a:br/>
            <a:r>
              <a:t>• Model Registry: Versión con tag 'Approved'.</a:t>
            </a:r>
          </a:p>
        </p:txBody>
      </p:sp>
      <p:sp>
        <p:nvSpPr>
          <p:cNvPr id="7" name="Rounded Rectangle 6"/>
          <p:cNvSpPr/>
          <p:nvPr/>
        </p:nvSpPr>
        <p:spPr>
          <a:xfrm>
            <a:off x="3291840" y="4526280"/>
            <a:ext cx="2743200" cy="187451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defRPr sz="850" b="1">
                <a:solidFill>
                  <a:srgbClr val="2563EB"/>
                </a:solidFill>
              </a:defRPr>
            </a:pPr>
            <a:r>
              <a:t>2. INFERENCIA REAL-TIME (&lt;50ms)</a:t>
            </a:r>
          </a:p>
          <a:p>
            <a:pPr>
              <a:defRPr sz="780">
                <a:solidFill>
                  <a:srgbClr val="0F172A"/>
                </a:solidFill>
              </a:defRPr>
            </a:pPr>
            <a:r>
              <a:t>• API Gateway: Endpoints REST /v1/forecast/correct.</a:t>
            </a:r>
            <a:br/>
            <a:r>
              <a:t>• ECS Fargate: Microservicio FastAPI en contenedores Docker.</a:t>
            </a:r>
            <a:br/>
            <a:r>
              <a:t>• DataCoverageGate Middleware: Valida racha en memoria (&lt;1ms).</a:t>
            </a:r>
            <a:br/>
            <a:r>
              <a:t>• ElastiCache Redis: Semáforo de slots verde/amarillo/rojo.</a:t>
            </a:r>
          </a:p>
        </p:txBody>
      </p:sp>
      <p:sp>
        <p:nvSpPr>
          <p:cNvPr id="8" name="Rounded Rectangle 7"/>
          <p:cNvSpPr/>
          <p:nvPr/>
        </p:nvSpPr>
        <p:spPr>
          <a:xfrm>
            <a:off x="6126480" y="4526280"/>
            <a:ext cx="2743200" cy="187451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defRPr sz="850" b="1">
                <a:solidFill>
                  <a:srgbClr val="2563EB"/>
                </a:solidFill>
              </a:defRPr>
            </a:pPr>
            <a:r>
              <a:t>3. PERSISTENCIA &amp; DATA LAKE</a:t>
            </a:r>
          </a:p>
          <a:p>
            <a:pPr>
              <a:defRPr sz="780">
                <a:solidFill>
                  <a:srgbClr val="0F172A"/>
                </a:solidFill>
              </a:defRPr>
            </a:pPr>
            <a:r>
              <a:t>• S3 Data Lake: Raw (CSV) y Curated (Parquet Snappy particionado por CD y fecha).</a:t>
            </a:r>
            <a:br/>
            <a:r>
              <a:t>• Aurora PostgreSQL Serverless: ACID para planes de entrega.</a:t>
            </a:r>
            <a:br/>
            <a:r>
              <a:t>• AWS KMS &amp; Glue Catalog: Seguridad y gobernanza.</a:t>
            </a:r>
          </a:p>
        </p:txBody>
      </p:sp>
      <p:sp>
        <p:nvSpPr>
          <p:cNvPr id="9" name="Rounded Rectangle 8"/>
          <p:cNvSpPr/>
          <p:nvPr/>
        </p:nvSpPr>
        <p:spPr>
          <a:xfrm>
            <a:off x="8961120" y="4526280"/>
            <a:ext cx="2743200" cy="187451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defRPr sz="850" b="1">
                <a:solidFill>
                  <a:srgbClr val="2563EB"/>
                </a:solidFill>
              </a:defRPr>
            </a:pPr>
            <a:r>
              <a:t>4. MLOPS CONTINUO &amp; FINOPS</a:t>
            </a:r>
          </a:p>
          <a:p>
            <a:pPr>
              <a:defRPr sz="780">
                <a:solidFill>
                  <a:srgbClr val="0F172A"/>
                </a:solidFill>
              </a:defRPr>
            </a:pPr>
            <a:r>
              <a:t>• CloudWatch: Latencia p95 y tasa fallback (&lt;5%).</a:t>
            </a:r>
            <a:br/>
            <a:r>
              <a:t>• Model Monitor: Alerta Slack si WAPE 7d &gt; 12% o Bias fuera de [-4%, +4%].</a:t>
            </a:r>
            <a:br/>
            <a:r>
              <a:t>• FinOps: Costo operativo de $185 USD/mes ($140-$230).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4747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457200" tIns="54864"/>
          <a:lstStyle/>
          <a:p>
            <a:pPr algn="ctr">
              <a:defRPr sz="850" b="1">
                <a:solidFill>
                  <a:srgbClr val="38BDF8"/>
                </a:solidFill>
              </a:defRPr>
            </a:pPr>
            <a:r>
              <a:t>ESTRATEGIA ANALÍTICA &amp; OPTIMIZACIÓN DE SUPPLY CHAIN B2B  |  DESAFÍO TÉCNICO: DATA SCIENTIST LEAD</a:t>
            </a:r>
          </a:p>
        </p:txBody>
      </p:sp>
      <p:sp>
        <p:nvSpPr>
          <p:cNvPr id="3" name="Rectangle 2"/>
          <p:cNvSpPr/>
          <p:nvPr/>
        </p:nvSpPr>
        <p:spPr>
          <a:xfrm>
            <a:off x="0" y="6510528"/>
            <a:ext cx="12191695" cy="347472"/>
          </a:xfrm>
          <a:prstGeom prst="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457200" tIns="54864"/>
          <a:lstStyle/>
          <a:p>
            <a:pPr algn="ctr">
              <a:defRPr sz="850">
                <a:solidFill>
                  <a:srgbClr val="64748B"/>
                </a:solidFill>
              </a:defRPr>
            </a:pPr>
            <a:r>
              <a:t>Sebastián Felipe Urzúa Bórquez | Postulación Data Scientist Lead | Presentación Técnica Oficial          Diapositiva 10 de 10</a:t>
            </a:r>
          </a:p>
        </p:txBody>
      </p:sp>
      <p:sp>
        <p:nvSpPr>
          <p:cNvPr id="4" name="TextBox 3"/>
          <p:cNvSpPr txBox="1"/>
          <p:nvPr/>
        </p:nvSpPr>
        <p:spPr>
          <a:xfrm>
            <a:off x="457200" y="402336"/>
            <a:ext cx="11277295" cy="868680"/>
          </a:xfrm>
          <a:prstGeom prst="rect">
            <a:avLst/>
          </a:prstGeom>
          <a:noFill/>
        </p:spPr>
        <p:txBody>
          <a:bodyPr wrap="square" lIns="0" tIns="0" rIns="0" bIns="0">
            <a:spAutoFit/>
          </a:bodyPr>
          <a:lstStyle/>
          <a:p>
            <a:pPr>
              <a:defRPr sz="900" b="1">
                <a:solidFill>
                  <a:srgbClr val="2563EB"/>
                </a:solidFill>
              </a:defRPr>
            </a:pPr>
            <a:r>
              <a:t>IMPACTO EN NEGOCIO: OPTIMIZACIÓN DE FLOTA, FLETES SPOT, NIVEL DE SERVICIO Y ROADMAP (PDF SLIDES 9-10)</a:t>
            </a:r>
          </a:p>
          <a:p>
            <a:pPr>
              <a:defRPr sz="1550" b="1">
                <a:solidFill>
                  <a:srgbClr val="0F172A"/>
                </a:solidFill>
              </a:defRPr>
            </a:pPr>
            <a:r>
              <a:t>La solución elimina el 100% de la sobrecapacidad en CD_NORTE, proyecta ahorros de hasta $350k USD y eleva el OTIF a &gt;98%.</a:t>
            </a:r>
          </a:p>
        </p:txBody>
      </p:sp>
      <p:sp>
        <p:nvSpPr>
          <p:cNvPr id="5" name="Rounded Rectangle 4"/>
          <p:cNvSpPr/>
          <p:nvPr/>
        </p:nvSpPr>
        <p:spPr>
          <a:xfrm>
            <a:off x="457200" y="1371600"/>
            <a:ext cx="3566160" cy="1234440"/>
          </a:xfrm>
          <a:prstGeom prst="roundRect">
            <a:avLst/>
          </a:prstGeom>
          <a:solidFill>
            <a:srgbClr val="ECFDF5"/>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defRPr sz="850" b="1">
                <a:solidFill>
                  <a:srgbClr val="0F172A"/>
                </a:solidFill>
              </a:defRPr>
            </a:pPr>
            <a:r>
              <a:t>OPTIMIZACIÓN DE FLOTA Y CAPACIDAD</a:t>
            </a:r>
          </a:p>
          <a:p>
            <a:pPr algn="ctr">
              <a:defRPr sz="1800" b="1">
                <a:solidFill>
                  <a:srgbClr val="10B981"/>
                </a:solidFill>
              </a:defRPr>
            </a:pPr>
            <a:r>
              <a:t>974 Unid. Desborde Eliminadas</a:t>
            </a:r>
          </a:p>
          <a:p>
            <a:pPr algn="ctr">
              <a:defRPr sz="800">
                <a:solidFill>
                  <a:srgbClr val="64748B"/>
                </a:solidFill>
              </a:defRPr>
            </a:pPr>
            <a:r>
              <a:t>Reduce 15% flota pico de martes en CD_NORTE, eliminando saturación &gt; 100%</a:t>
            </a:r>
          </a:p>
        </p:txBody>
      </p:sp>
      <p:sp>
        <p:nvSpPr>
          <p:cNvPr id="6" name="Rounded Rectangle 5"/>
          <p:cNvSpPr/>
          <p:nvPr/>
        </p:nvSpPr>
        <p:spPr>
          <a:xfrm>
            <a:off x="4297680" y="1371600"/>
            <a:ext cx="3566160" cy="1234440"/>
          </a:xfrm>
          <a:prstGeom prst="roundRect">
            <a:avLst/>
          </a:prstGeom>
          <a:solidFill>
            <a:srgbClr val="ECFDF5"/>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defRPr sz="850" b="1">
                <a:solidFill>
                  <a:srgbClr val="0F172A"/>
                </a:solidFill>
              </a:defRPr>
            </a:pPr>
            <a:r>
              <a:t>AHORRO EN FLETES DE EMERGENCIA</a:t>
            </a:r>
          </a:p>
          <a:p>
            <a:pPr algn="ctr">
              <a:defRPr sz="1800" b="1">
                <a:solidFill>
                  <a:srgbClr val="10B981"/>
                </a:solidFill>
              </a:defRPr>
            </a:pPr>
            <a:r>
              <a:t>$180k - $350k USD / año</a:t>
            </a:r>
          </a:p>
          <a:p>
            <a:pPr algn="ctr">
              <a:defRPr sz="800">
                <a:solidFill>
                  <a:srgbClr val="64748B"/>
                </a:solidFill>
              </a:defRPr>
            </a:pPr>
            <a:r>
              <a:t>Modelo paramétrico de mercado. Infraestructura cloud ($185/mes) rinde ROI &gt; 2,000%</a:t>
            </a:r>
          </a:p>
        </p:txBody>
      </p:sp>
      <p:sp>
        <p:nvSpPr>
          <p:cNvPr id="7" name="Rounded Rectangle 6"/>
          <p:cNvSpPr/>
          <p:nvPr/>
        </p:nvSpPr>
        <p:spPr>
          <a:xfrm>
            <a:off x="8138160" y="1371600"/>
            <a:ext cx="3566160" cy="1234440"/>
          </a:xfrm>
          <a:prstGeom prst="roundRect">
            <a:avLst/>
          </a:prstGeom>
          <a:solidFill>
            <a:srgbClr val="ECFDF5"/>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defRPr sz="850" b="1">
                <a:solidFill>
                  <a:srgbClr val="0F172A"/>
                </a:solidFill>
              </a:defRPr>
            </a:pPr>
            <a:r>
              <a:t>NIVEL DE SERVICIO AL CLIENTE (OTIF)</a:t>
            </a:r>
          </a:p>
          <a:p>
            <a:pPr algn="ctr">
              <a:defRPr sz="1800" b="1">
                <a:solidFill>
                  <a:srgbClr val="10B981"/>
                </a:solidFill>
              </a:defRPr>
            </a:pPr>
            <a:r>
              <a:t>91.5% → ≥ 98.0%</a:t>
            </a:r>
          </a:p>
          <a:p>
            <a:pPr algn="ctr">
              <a:defRPr sz="800">
                <a:solidFill>
                  <a:srgbClr val="64748B"/>
                </a:solidFill>
              </a:defRPr>
            </a:pPr>
            <a:r>
              <a:t>Cumplimiento On-Time In-Full, mitigando multas comerciales B2B y quiebres</a:t>
            </a:r>
          </a:p>
        </p:txBody>
      </p:sp>
      <p:graphicFrame>
        <p:nvGraphicFramePr>
          <p:cNvPr id="8" name="Table 7"/>
          <p:cNvGraphicFramePr>
            <a:graphicFrameLocks noGrp="1"/>
          </p:cNvGraphicFramePr>
          <p:nvPr/>
        </p:nvGraphicFramePr>
        <p:xfrm>
          <a:off x="457200" y="2788920"/>
          <a:ext cx="6858000" cy="2011680"/>
        </p:xfrm>
        <a:graphic>
          <a:graphicData uri="http://schemas.openxmlformats.org/drawingml/2006/table">
            <a:tbl>
              <a:tblPr firstRow="1" bandRow="1">
                <a:tableStyleId>{5C22544A-7EE6-4342-B048-85BDC9FD1C3A}</a:tableStyleId>
              </a:tblPr>
              <a:tblGrid>
                <a:gridCol w="1645920"/>
                <a:gridCol w="914400"/>
                <a:gridCol w="2468880"/>
                <a:gridCol w="1828800"/>
              </a:tblGrid>
              <a:tr h="502920">
                <a:tc>
                  <a:txBody>
                    <a:bodyPr/>
                    <a:lstStyle/>
                    <a:p>
                      <a:pPr>
                        <a:defRPr sz="850" b="1">
                          <a:solidFill>
                            <a:srgbClr val="FFFFFF"/>
                          </a:solidFill>
                        </a:defRPr>
                      </a:pPr>
                      <a:r>
                        <a:t>Fase / Hito</a:t>
                      </a:r>
                    </a:p>
                  </a:txBody>
                  <a:tcPr>
                    <a:solidFill>
                      <a:srgbClr val="0F172A"/>
                    </a:solidFill>
                  </a:tcPr>
                </a:tc>
                <a:tc>
                  <a:txBody>
                    <a:bodyPr/>
                    <a:lstStyle/>
                    <a:p>
                      <a:pPr>
                        <a:defRPr sz="850" b="1">
                          <a:solidFill>
                            <a:srgbClr val="FFFFFF"/>
                          </a:solidFill>
                        </a:defRPr>
                      </a:pPr>
                      <a:r>
                        <a:t>Semanas</a:t>
                      </a:r>
                    </a:p>
                  </a:txBody>
                  <a:tcPr>
                    <a:solidFill>
                      <a:srgbClr val="0F172A"/>
                    </a:solidFill>
                  </a:tcPr>
                </a:tc>
                <a:tc>
                  <a:txBody>
                    <a:bodyPr/>
                    <a:lstStyle/>
                    <a:p>
                      <a:pPr>
                        <a:defRPr sz="850" b="1">
                          <a:solidFill>
                            <a:srgbClr val="FFFFFF"/>
                          </a:solidFill>
                        </a:defRPr>
                      </a:pPr>
                      <a:r>
                        <a:t>Alcance y Entregables</a:t>
                      </a:r>
                    </a:p>
                  </a:txBody>
                  <a:tcPr>
                    <a:solidFill>
                      <a:srgbClr val="0F172A"/>
                    </a:solidFill>
                  </a:tcPr>
                </a:tc>
                <a:tc>
                  <a:txBody>
                    <a:bodyPr/>
                    <a:lstStyle/>
                    <a:p>
                      <a:pPr>
                        <a:defRPr sz="850" b="1">
                          <a:solidFill>
                            <a:srgbClr val="FFFFFF"/>
                          </a:solidFill>
                        </a:defRPr>
                      </a:pPr>
                      <a:r>
                        <a:t>Gate de Control</a:t>
                      </a:r>
                    </a:p>
                  </a:txBody>
                  <a:tcPr>
                    <a:solidFill>
                      <a:srgbClr val="0F172A"/>
                    </a:solidFill>
                  </a:tcPr>
                </a:tc>
              </a:tr>
              <a:tr h="502920">
                <a:tc>
                  <a:txBody>
                    <a:bodyPr/>
                    <a:lstStyle/>
                    <a:p>
                      <a:pPr>
                        <a:defRPr sz="800" b="1">
                          <a:solidFill>
                            <a:srgbClr val="0F172A"/>
                          </a:solidFill>
                        </a:defRPr>
                      </a:pPr>
                      <a:r>
                        <a:t>Fase 1: Piloto Regional</a:t>
                      </a:r>
                    </a:p>
                  </a:txBody>
                  <a:tcPr>
                    <a:solidFill>
                      <a:srgbClr val="FFFFFF"/>
                    </a:solidFill>
                  </a:tcPr>
                </a:tc>
                <a:tc>
                  <a:txBody>
                    <a:bodyPr/>
                    <a:lstStyle/>
                    <a:p>
                      <a:pPr>
                        <a:defRPr sz="800" b="1">
                          <a:solidFill>
                            <a:srgbClr val="0F172A"/>
                          </a:solidFill>
                        </a:defRPr>
                      </a:pPr>
                      <a:r>
                        <a:t>Sem 1-4</a:t>
                      </a:r>
                    </a:p>
                  </a:txBody>
                  <a:tcPr>
                    <a:solidFill>
                      <a:srgbClr val="FFFFFF"/>
                    </a:solidFill>
                  </a:tcPr>
                </a:tc>
                <a:tc>
                  <a:txBody>
                    <a:bodyPr/>
                    <a:lstStyle/>
                    <a:p>
                      <a:pPr>
                        <a:defRPr sz="800">
                          <a:solidFill>
                            <a:srgbClr val="0F172A"/>
                          </a:solidFill>
                        </a:defRPr>
                      </a:pPr>
                      <a:r>
                        <a:t>Despliegue CD_NORTE y CD_SUR en sombra. Step Functions y Gate 45d.</a:t>
                      </a:r>
                    </a:p>
                  </a:txBody>
                  <a:tcPr>
                    <a:solidFill>
                      <a:srgbClr val="FFFFFF"/>
                    </a:solidFill>
                  </a:tcPr>
                </a:tc>
                <a:tc>
                  <a:txBody>
                    <a:bodyPr/>
                    <a:lstStyle/>
                    <a:p>
                      <a:pPr>
                        <a:defRPr sz="800">
                          <a:solidFill>
                            <a:srgbClr val="0F172A"/>
                          </a:solidFill>
                        </a:defRPr>
                      </a:pPr>
                      <a:r>
                        <a:t>WAPE &lt; 8.0%, 0 fallas</a:t>
                      </a:r>
                    </a:p>
                  </a:txBody>
                  <a:tcPr>
                    <a:solidFill>
                      <a:srgbClr val="FFFFFF"/>
                    </a:solidFill>
                  </a:tcPr>
                </a:tc>
              </a:tr>
              <a:tr h="502920">
                <a:tc>
                  <a:txBody>
                    <a:bodyPr/>
                    <a:lstStyle/>
                    <a:p>
                      <a:pPr>
                        <a:defRPr sz="800" b="1">
                          <a:solidFill>
                            <a:srgbClr val="0F172A"/>
                          </a:solidFill>
                        </a:defRPr>
                      </a:pPr>
                      <a:r>
                        <a:t>Fase 2: Dynamic Slotting</a:t>
                      </a:r>
                    </a:p>
                  </a:txBody>
                  <a:tcPr>
                    <a:solidFill>
                      <a:srgbClr val="F8FAFC"/>
                    </a:solidFill>
                  </a:tcPr>
                </a:tc>
                <a:tc>
                  <a:txBody>
                    <a:bodyPr/>
                    <a:lstStyle/>
                    <a:p>
                      <a:pPr>
                        <a:defRPr sz="800" b="1">
                          <a:solidFill>
                            <a:srgbClr val="0F172A"/>
                          </a:solidFill>
                        </a:defRPr>
                      </a:pPr>
                      <a:r>
                        <a:t>Sem 5-8</a:t>
                      </a:r>
                    </a:p>
                  </a:txBody>
                  <a:tcPr>
                    <a:solidFill>
                      <a:srgbClr val="F8FAFC"/>
                    </a:solidFill>
                  </a:tcPr>
                </a:tc>
                <a:tc>
                  <a:txBody>
                    <a:bodyPr/>
                    <a:lstStyle/>
                    <a:p>
                      <a:pPr>
                        <a:defRPr sz="800">
                          <a:solidFill>
                            <a:srgbClr val="0F172A"/>
                          </a:solidFill>
                        </a:defRPr>
                      </a:pPr>
                      <a:r>
                        <a:t>Integración de cupos en Portal B2B. Bono comercial 2.5% en días valle.</a:t>
                      </a:r>
                    </a:p>
                  </a:txBody>
                  <a:tcPr>
                    <a:solidFill>
                      <a:srgbClr val="F8FAFC"/>
                    </a:solidFill>
                  </a:tcPr>
                </a:tc>
                <a:tc>
                  <a:txBody>
                    <a:bodyPr/>
                    <a:lstStyle/>
                    <a:p>
                      <a:pPr>
                        <a:defRPr sz="800">
                          <a:solidFill>
                            <a:srgbClr val="0F172A"/>
                          </a:solidFill>
                        </a:defRPr>
                      </a:pPr>
                      <a:r>
                        <a:t>Días valle &gt; 35%, PAR &lt; 1.6x</a:t>
                      </a:r>
                    </a:p>
                  </a:txBody>
                  <a:tcPr>
                    <a:solidFill>
                      <a:srgbClr val="F8FAFC"/>
                    </a:solidFill>
                  </a:tcPr>
                </a:tc>
              </a:tr>
              <a:tr h="502920">
                <a:tc>
                  <a:txBody>
                    <a:bodyPr/>
                    <a:lstStyle/>
                    <a:p>
                      <a:pPr>
                        <a:defRPr sz="800" b="1">
                          <a:solidFill>
                            <a:srgbClr val="0F172A"/>
                          </a:solidFill>
                        </a:defRPr>
                      </a:pPr>
                      <a:r>
                        <a:t>Fase 3: Rollout Nacional</a:t>
                      </a:r>
                    </a:p>
                  </a:txBody>
                  <a:tcPr>
                    <a:solidFill>
                      <a:srgbClr val="FFFFFF"/>
                    </a:solidFill>
                  </a:tcPr>
                </a:tc>
                <a:tc>
                  <a:txBody>
                    <a:bodyPr/>
                    <a:lstStyle/>
                    <a:p>
                      <a:pPr>
                        <a:defRPr sz="800" b="1">
                          <a:solidFill>
                            <a:srgbClr val="0F172A"/>
                          </a:solidFill>
                        </a:defRPr>
                      </a:pPr>
                      <a:r>
                        <a:t>Sem 9-12</a:t>
                      </a:r>
                    </a:p>
                  </a:txBody>
                  <a:tcPr>
                    <a:solidFill>
                      <a:srgbClr val="FFFFFF"/>
                    </a:solidFill>
                  </a:tcPr>
                </a:tc>
                <a:tc>
                  <a:txBody>
                    <a:bodyPr/>
                    <a:lstStyle/>
                    <a:p>
                      <a:pPr>
                        <a:defRPr sz="800">
                          <a:solidFill>
                            <a:srgbClr val="0F172A"/>
                          </a:solidFill>
                        </a:defRPr>
                      </a:pPr>
                      <a:r>
                        <a:t>Extensión a 6 CDs. Activación SageMaker Monitor y entrega S&amp;OP.</a:t>
                      </a:r>
                    </a:p>
                  </a:txBody>
                  <a:tcPr>
                    <a:solidFill>
                      <a:srgbClr val="FFFFFF"/>
                    </a:solidFill>
                  </a:tcPr>
                </a:tc>
                <a:tc>
                  <a:txBody>
                    <a:bodyPr/>
                    <a:lstStyle/>
                    <a:p>
                      <a:pPr>
                        <a:defRPr sz="800">
                          <a:solidFill>
                            <a:srgbClr val="0F172A"/>
                          </a:solidFill>
                        </a:defRPr>
                      </a:pPr>
                      <a:r>
                        <a:t>100% fletes spot eliminados</a:t>
                      </a:r>
                    </a:p>
                  </a:txBody>
                  <a:tcPr>
                    <a:solidFill>
                      <a:srgbClr val="FFFFFF"/>
                    </a:solidFill>
                  </a:tcPr>
                </a:tc>
              </a:tr>
            </a:tbl>
          </a:graphicData>
        </a:graphic>
      </p:graphicFrame>
      <p:sp>
        <p:nvSpPr>
          <p:cNvPr id="9" name="Rounded Rectangle 8"/>
          <p:cNvSpPr/>
          <p:nvPr/>
        </p:nvSpPr>
        <p:spPr>
          <a:xfrm>
            <a:off x="7498079" y="2788920"/>
            <a:ext cx="4206240" cy="35661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a:lstStyle/>
          <a:p>
            <a:pPr algn="ctr">
              <a:defRPr sz="950" b="1">
                <a:solidFill>
                  <a:srgbClr val="2563EB"/>
                </a:solidFill>
              </a:defRPr>
            </a:pPr>
            <a:r>
              <a:t>KPIS DE CONTROL Y GOBERNANZA CONTINUA:</a:t>
            </a:r>
          </a:p>
          <a:p>
            <a:pPr>
              <a:defRPr sz="819">
                <a:solidFill>
                  <a:srgbClr val="0F172A"/>
                </a:solidFill>
              </a:defRPr>
            </a:pPr>
            <a:r>
              <a:t>1. KPIs de Monitoreo Continuo:</a:t>
            </a:r>
            <a:br/>
            <a:r>
              <a:t>   • WAPE Out-of-Time: Meta &lt; 8.5% en los 6 CDs.</a:t>
            </a:r>
            <a:br/>
            <a:r>
              <a:t>   • Bias Estructural: Rango admisible [-2.0%, +2.0%].</a:t>
            </a:r>
            <a:br/>
            <a:r>
              <a:t>   • Peak-to-Average Ratio: Reducción de 2.10x a &lt; 1.35x.</a:t>
            </a:r>
            <a:br/>
            <a:r>
              <a:t>   • Deserción del Plan: Tasa fuera de plan &lt; 10% (hoy 17.5%).</a:t>
            </a:r>
            <a:br/>
            <a:r>
              <a:t>   • Incidencia de Fletes Spot: 0 viajes de pánico recurrentes.</a:t>
            </a:r>
            <a:br/>
            <a:br/>
            <a:r>
              <a:t>2. Gobernanza &amp; S&amp;OP:</a:t>
            </a:r>
            <a:br/>
            <a:r>
              <a:t>   • Alertas Automáticas: Notificación Slack ante drift de sesgo.</a:t>
            </a:r>
            <a:br/>
            <a:r>
              <a:t>   • Reentrenamiento Semanal: Cómputo dominical en SageMaker Spot.</a:t>
            </a:r>
            <a:br/>
            <a:r>
              <a:t>   • Comité S&amp;OP Quincenal: Data Science, Transporte y Ventas calibran semáforo de slotting dinámico.</a:t>
            </a:r>
            <a:br/>
            <a:r>
              <a:t>   • Auditoría Mensual: Conciliación de ahorro en fletes con balance.</a:t>
            </a:r>
          </a:p>
        </p:txBody>
      </p:sp>
      <p:sp>
        <p:nvSpPr>
          <p:cNvPr id="10" name="Rounded Rectangle 9"/>
          <p:cNvSpPr/>
          <p:nvPr/>
        </p:nvSpPr>
        <p:spPr>
          <a:xfrm>
            <a:off x="457200" y="4937760"/>
            <a:ext cx="6858000" cy="1417320"/>
          </a:xfrm>
          <a:prstGeom prst="roundRect">
            <a:avLst/>
          </a:prstGeom>
          <a:solidFill>
            <a:srgbClr val="EFF6FF"/>
          </a:solidFill>
          <a:ln>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a:lstStyle/>
          <a:p>
            <a:pPr algn="ctr">
              <a:defRPr sz="850" b="1">
                <a:solidFill>
                  <a:srgbClr val="2563EB"/>
                </a:solidFill>
              </a:defRPr>
            </a:pPr>
            <a:r>
              <a:t>ACLARACIÓN METODOLÓGICA POSTULANTE LEAD (EVALUACIÓN DE FLETES):</a:t>
            </a:r>
          </a:p>
          <a:p>
            <a:pPr>
              <a:defRPr sz="780">
                <a:solidFill>
                  <a:srgbClr val="0F172A"/>
                </a:solidFill>
              </a:defRPr>
            </a:pPr>
            <a:r>
              <a:t>El dataset original no contiene columnas monetarias. La evaluación económica se aborda con total rigor técnico como un Modelo Paramétrico de Caso de Negocio: se valoriza la eliminación de 974 unidades de desborde y la reducción del 67.9% en la penalización por pérdida asimétrica bajo tarifas estándar de mercado ($15-$25 USD/unid. en flete spot de urgencia / $450 por camión no planificado). El ahorro neto estimado es de $180k a $350k USD anuales.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